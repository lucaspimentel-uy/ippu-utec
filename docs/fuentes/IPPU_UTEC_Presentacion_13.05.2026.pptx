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iC18EZYFFjQSV6X4lT2hQFhY27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ac898b2a3_4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g3eac898b2a3_4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eac898b2a3_4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8" name="Google Shape;48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6" name="Google Shape;58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1" name="Google Shape;60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0" name="Google Shape;64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2" name="Google Shape;69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1" name="Google Shape;76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9" name="Google Shape;82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6" name="Google Shape;866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8" name="Google Shape;918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8" name="Google Shape;958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3" name="Google Shape;973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2" name="Google Shape;101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8" name="Google Shape;1058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8" name="Google Shape;109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3" name="Google Shape;1113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8" name="Google Shape;1168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9" name="Google Shape;1239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9" name="Google Shape;1279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11" Type="http://schemas.openxmlformats.org/officeDocument/2006/relationships/image" Target="../media/image5.png"/><Relationship Id="rId10" Type="http://schemas.openxmlformats.org/officeDocument/2006/relationships/image" Target="../media/image13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B3A5C">
              <a:alpha val="45098"/>
            </a:srgbClr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0" y="5669280"/>
            <a:ext cx="12161520" cy="1188720"/>
          </a:xfrm>
          <a:prstGeom prst="rect">
            <a:avLst/>
          </a:prstGeom>
          <a:solidFill>
            <a:srgbClr val="1B3A5C">
              <a:alpha val="74901"/>
            </a:srgbClr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237744" y="0"/>
            <a:ext cx="201168" cy="68580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475488" y="0"/>
            <a:ext cx="201168" cy="68580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13232" y="0"/>
            <a:ext cx="201168" cy="68580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50976" y="0"/>
            <a:ext cx="201168" cy="68580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280160" y="475488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REUNION IPPU x UTEC-LIDIA | MAYO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280160" y="10058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IPPU x UTEC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280160" y="2286000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Presentacion Institucional y Cuatro Lineas de Trabajo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 Inteligencia Artificial para la Atencion del TEA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280160" y="3520440"/>
            <a:ext cx="1938528" cy="1828800"/>
          </a:xfrm>
          <a:prstGeom prst="rect">
            <a:avLst/>
          </a:prstGeom>
          <a:solidFill>
            <a:srgbClr val="0EA5E9">
              <a:alpha val="87843"/>
            </a:srgbClr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389888" y="3767328"/>
            <a:ext cx="171907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Institucional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364992" y="3520440"/>
            <a:ext cx="1938528" cy="1828800"/>
          </a:xfrm>
          <a:prstGeom prst="rect">
            <a:avLst/>
          </a:prstGeom>
          <a:solidFill>
            <a:srgbClr val="D97706">
              <a:alpha val="87843"/>
            </a:srgbClr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474720" y="3767328"/>
            <a:ext cx="171907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HCE + IDEA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49824" y="3520440"/>
            <a:ext cx="1938528" cy="1828800"/>
          </a:xfrm>
          <a:prstGeom prst="rect">
            <a:avLst/>
          </a:prstGeom>
          <a:solidFill>
            <a:srgbClr val="00897B">
              <a:alpha val="87843"/>
            </a:srgbClr>
          </a:solidFill>
          <a:ln cap="flat" cmpd="sng" w="1905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559552" y="3767328"/>
            <a:ext cx="171907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Pictogramas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534656" y="3520440"/>
            <a:ext cx="1938528" cy="1828800"/>
          </a:xfrm>
          <a:prstGeom prst="rect">
            <a:avLst/>
          </a:prstGeom>
          <a:solidFill>
            <a:srgbClr val="1565C0">
              <a:alpha val="87843"/>
            </a:srgbClr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644384" y="3767328"/>
            <a:ext cx="171907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Asistente Virtual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9619488" y="3520440"/>
            <a:ext cx="1938528" cy="1828800"/>
          </a:xfrm>
          <a:prstGeom prst="rect">
            <a:avLst/>
          </a:prstGeom>
          <a:solidFill>
            <a:srgbClr val="6A1B9A">
              <a:alpha val="87843"/>
            </a:srgbClr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9729216" y="3767328"/>
            <a:ext cx="171907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Patrones de Visualizacion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1280160" y="605332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-- Instituto Psico Pedagogico Uruguayo  |  Montevideo, Uruguay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 amt="82000"/>
          </a:blip>
          <a:srcRect b="0" l="0" r="0" t="0"/>
          <a:stretch/>
        </p:blipFill>
        <p:spPr>
          <a:xfrm>
            <a:off x="530352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217920" y="0"/>
            <a:ext cx="1371600" cy="6858000"/>
          </a:xfrm>
          <a:prstGeom prst="rect">
            <a:avLst/>
          </a:prstGeom>
          <a:solidFill>
            <a:srgbClr val="0D1B2A">
              <a:alpha val="34901"/>
            </a:srgbClr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02920" y="347472"/>
            <a:ext cx="7315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FUNDACION IPPU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02920" y="8229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Instituto Psico Pedagogico Uruguayo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2920" y="1572768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"Un lugar para crecer"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2920" y="2633472"/>
            <a:ext cx="2560320" cy="5486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02920" y="2852928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desde 1980  |  Montevideo, Uruguay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2920" y="3520440"/>
            <a:ext cx="1847088" cy="1417320"/>
          </a:xfrm>
          <a:prstGeom prst="rect">
            <a:avLst/>
          </a:prstGeom>
          <a:solidFill>
            <a:srgbClr val="0EA5E9">
              <a:alpha val="85882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94360" y="3584448"/>
            <a:ext cx="16642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46+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94360" y="4343400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anos de trayectoria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560320" y="3520440"/>
            <a:ext cx="1847088" cy="1417320"/>
          </a:xfrm>
          <a:prstGeom prst="rect">
            <a:avLst/>
          </a:prstGeom>
          <a:solidFill>
            <a:srgbClr val="0EA5E9">
              <a:alpha val="85882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2651760" y="3584448"/>
            <a:ext cx="16642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651760" y="4343400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NNA atendidos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617720" y="3520440"/>
            <a:ext cx="1847088" cy="1417320"/>
          </a:xfrm>
          <a:prstGeom prst="rect">
            <a:avLst/>
          </a:prstGeom>
          <a:solidFill>
            <a:srgbClr val="0EA5E9">
              <a:alpha val="85882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4709160" y="3584448"/>
            <a:ext cx="16642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09160" y="4343400"/>
            <a:ext cx="16642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talleres especializados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0369A1">
              <a:alpha val="65098"/>
            </a:srgbClr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57200" y="6291072"/>
            <a:ext cx="112471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Reunion con UTEC-LIDIA  |  Mayo 2026  |  Licenciatura en Ingenieria de Datos e 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Historia y trayectoria institucional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11480" y="1097280"/>
            <a:ext cx="3675888" cy="23042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11480" y="1097280"/>
            <a:ext cx="64008" cy="230428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48640" y="1207008"/>
            <a:ext cx="868680" cy="38404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48640" y="1207008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1980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554480" y="123444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Fundacion del IPPU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12648" y="1737360"/>
            <a:ext cx="3383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Creado para brindar atencion a ninos y adolescentes que no encontraban su lugar dentro del sistema de educacion formal.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315968" y="1097280"/>
            <a:ext cx="3675888" cy="23042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315968" y="1097280"/>
            <a:ext cx="64008" cy="230428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453128" y="1207008"/>
            <a:ext cx="868680" cy="38404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4453128" y="1207008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1983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458968" y="123444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Conversion a Fundacion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17136" y="1737360"/>
            <a:ext cx="3383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Se amplian los objetivos institucionales y la cobertura poblacional, consolidando el trabajo interdisciplinario.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220456" y="1097280"/>
            <a:ext cx="3675888" cy="23042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8220456" y="1097280"/>
            <a:ext cx="64008" cy="2304288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8357616" y="1207008"/>
            <a:ext cx="868680" cy="384048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8357616" y="1207008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363456" y="123444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Convenio con INAU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421624" y="1737360"/>
            <a:ext cx="3383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Firma del convenio con el Instituto del Nino y Adolescente del Uruguay para la atencion de 30 NNA con TEA.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11480" y="3584448"/>
            <a:ext cx="3675888" cy="23042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11480" y="3584448"/>
            <a:ext cx="64008" cy="2304288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76072" y="3749040"/>
            <a:ext cx="868680" cy="384048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548640" y="3694176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554480" y="372160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Status ONU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12648" y="4224528"/>
            <a:ext cx="3383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La Fundacion cuenta con estatus consultivo especial ante Naciones Unidas en temas afines a su objeto institucional.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315968" y="3584448"/>
            <a:ext cx="3675888" cy="23042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315968" y="3584448"/>
            <a:ext cx="64008" cy="2304288"/>
          </a:xfrm>
          <a:prstGeom prst="rect">
            <a:avLst/>
          </a:prstGeom>
          <a:solidFill>
            <a:srgbClr val="0C4A6E"/>
          </a:solidFill>
          <a:ln cap="flat" cmpd="sng" w="1270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453128" y="3694176"/>
            <a:ext cx="868680" cy="384048"/>
          </a:xfrm>
          <a:prstGeom prst="rect">
            <a:avLst/>
          </a:prstGeom>
          <a:solidFill>
            <a:srgbClr val="0C4A6E"/>
          </a:solidFill>
          <a:ln cap="flat" cmpd="sng" w="1270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453128" y="3694176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458968" y="372160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Alianza UTEC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517136" y="4224528"/>
            <a:ext cx="3383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Firma del convenio estrategico con la Licenciatura en Ingenieria de Datos e IA de UTEC para aplicar IA en el trabajo con los NNA.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220456" y="3584448"/>
            <a:ext cx="3675888" cy="23042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220456" y="3584448"/>
            <a:ext cx="64008" cy="2304288"/>
          </a:xfrm>
          <a:prstGeom prst="rect">
            <a:avLst/>
          </a:prstGeom>
          <a:solidFill>
            <a:srgbClr val="0C4A6E"/>
          </a:solidFill>
          <a:ln cap="flat" cmpd="sng" w="1270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8357616" y="3694176"/>
            <a:ext cx="868680" cy="384048"/>
          </a:xfrm>
          <a:prstGeom prst="rect">
            <a:avLst/>
          </a:prstGeom>
          <a:solidFill>
            <a:srgbClr val="0C4A6E"/>
          </a:solidFill>
          <a:ln cap="flat" cmpd="sng" w="1270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8357616" y="3694176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363456" y="372160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Implementacion 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421624" y="4224528"/>
            <a:ext cx="33832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Puesta en marcha de las 4 lineas de trabajo con UTEC-LIDIA: HCE, Pictogramas, Asistente Virtual y Patrones de Visualizacion.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Areas de intervencion y objetivos institucionales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11480" y="1078992"/>
            <a:ext cx="2157984" cy="2286000"/>
          </a:xfrm>
          <a:prstGeom prst="rect">
            <a:avLst/>
          </a:prstGeom>
          <a:solidFill>
            <a:srgbClr val="0EA5E9">
              <a:alpha val="90196"/>
            </a:srgbClr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124712" y="1188720"/>
            <a:ext cx="731520" cy="73152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1124712" y="1188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2920" y="2057400"/>
            <a:ext cx="19751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ASISTENCIA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02920" y="2606040"/>
            <a:ext cx="19751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Atencion directa a NNA en 5 grupos de referencia. Dispositivo clinico individual. Unidad: NNA + familia + comunidad.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734056" y="1078992"/>
            <a:ext cx="2157984" cy="2286000"/>
          </a:xfrm>
          <a:prstGeom prst="rect">
            <a:avLst/>
          </a:prstGeom>
          <a:solidFill>
            <a:srgbClr val="0369A1">
              <a:alpha val="90196"/>
            </a:srgbClr>
          </a:solidFill>
          <a:ln cap="flat" cmpd="sng" w="1905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447288" y="1188720"/>
            <a:ext cx="731520" cy="731520"/>
          </a:xfrm>
          <a:prstGeom prst="ellipse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447288" y="1188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825496" y="2057400"/>
            <a:ext cx="19751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FORMACION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825496" y="2606040"/>
            <a:ext cx="19751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Cursos y ateneos clinicos para profesionales. TEA, inclusion educativa, metodo Feuerstein, planificacion centrada en la persona.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056632" y="1078992"/>
            <a:ext cx="2157984" cy="2286000"/>
          </a:xfrm>
          <a:prstGeom prst="rect">
            <a:avLst/>
          </a:prstGeom>
          <a:solidFill>
            <a:srgbClr val="0284C7">
              <a:alpha val="90196"/>
            </a:srgbClr>
          </a:solidFill>
          <a:ln cap="flat" cmpd="sng" w="1905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769864" y="1188720"/>
            <a:ext cx="731520" cy="731520"/>
          </a:xfrm>
          <a:prstGeom prst="ellipse">
            <a:avLst/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769864" y="1188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148072" y="2057400"/>
            <a:ext cx="19751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INVESTIGACION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148072" y="2606040"/>
            <a:ext cx="19751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Produccion de conocimiento sobre TEA. Instrumentos de evaluacion, analisis de datos y publicaciones especializadas.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379208" y="1078992"/>
            <a:ext cx="2157984" cy="2286000"/>
          </a:xfrm>
          <a:prstGeom prst="rect">
            <a:avLst/>
          </a:prstGeom>
          <a:solidFill>
            <a:srgbClr val="0369A1">
              <a:alpha val="90196"/>
            </a:srgbClr>
          </a:solidFill>
          <a:ln cap="flat" cmpd="sng" w="1905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8092440" y="1188720"/>
            <a:ext cx="731520" cy="731520"/>
          </a:xfrm>
          <a:prstGeom prst="ellipse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8092440" y="1188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470648" y="2057400"/>
            <a:ext cx="19751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470648" y="2606040"/>
            <a:ext cx="19751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Sensibilizacion comunitaria. Participacion de los NNA en espacios publicos. Coordinacion con redes de apoyo social.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9701784" y="1078992"/>
            <a:ext cx="2157984" cy="2286000"/>
          </a:xfrm>
          <a:prstGeom prst="rect">
            <a:avLst/>
          </a:prstGeom>
          <a:solidFill>
            <a:srgbClr val="0C4A6E">
              <a:alpha val="90196"/>
            </a:srgbClr>
          </a:solidFill>
          <a:ln cap="flat" cmpd="sng" w="1905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0415016" y="1188720"/>
            <a:ext cx="731520" cy="731520"/>
          </a:xfrm>
          <a:prstGeom prst="ellipse">
            <a:avLst/>
          </a:prstGeom>
          <a:solidFill>
            <a:srgbClr val="0C4A6E"/>
          </a:solidFill>
          <a:ln cap="flat" cmpd="sng" w="12700">
            <a:solidFill>
              <a:srgbClr val="0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0415016" y="118872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793224" y="2057400"/>
            <a:ext cx="197510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INNOVACION Y DESARROLLO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9793224" y="2606040"/>
            <a:ext cx="197510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HCE digital, IDEA + Autismind, aplicabilidad de la IA en TEA. Convenio estrategico con UTEC-LIDIA 2025.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11480" y="3547872"/>
            <a:ext cx="11338560" cy="1078992"/>
          </a:xfrm>
          <a:prstGeom prst="rect">
            <a:avLst/>
          </a:prstGeom>
          <a:solidFill>
            <a:srgbClr val="0EA5E9">
              <a:alpha val="12156"/>
            </a:srgbClr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11480" y="3547872"/>
            <a:ext cx="64008" cy="1078992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594360" y="359359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94360" y="400507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Posibilitar y promover el aprendizaje de la socializacion de los NNA con TEA, implicando a las familias, comunidades, instituciones y equipos tecnicos, en el proceso de su inclusion social, educativa y cultural.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11480" y="4910328"/>
            <a:ext cx="182880" cy="18288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85800" y="4873752"/>
            <a:ext cx="34930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01. Promover la insercion socio-educativa dentro del sistema formal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315968" y="4910328"/>
            <a:ext cx="182880" cy="18288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590288" y="4873752"/>
            <a:ext cx="34930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02. Ampliar el repertorio de habilidades sociales y adaptativas de los NNA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220456" y="4910328"/>
            <a:ext cx="182880" cy="18288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8494776" y="4873752"/>
            <a:ext cx="34930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03. Desarrollar estrategias de comunicacion compartibles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11480" y="5623560"/>
            <a:ext cx="182880" cy="18288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685800" y="5586984"/>
            <a:ext cx="34930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04. Generar un ambiente institucional dinamico de formacion continua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315968" y="5623560"/>
            <a:ext cx="182880" cy="18288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4590288" y="5586984"/>
            <a:ext cx="34930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05. Implicar activamente a las familias en el proceso socioeducativo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8220456" y="5623560"/>
            <a:ext cx="182880" cy="18288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8494776" y="5586984"/>
            <a:ext cx="34930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06. Promover la participacion comunitaria de los NNA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Poblacion atendida, convenios y talleres 2026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11480" y="1078992"/>
            <a:ext cx="5029200" cy="528523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11480" y="1078992"/>
            <a:ext cx="5029200" cy="4572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594360" y="112471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Convenios vigentes -- Poblacion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94360" y="1719072"/>
            <a:ext cx="4663440" cy="1444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77240" y="181051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INAU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77240" y="23774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Instituto del Nino y Adolescente del Uruguay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703320" y="1792224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703320" y="24688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NNA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94360" y="3319272"/>
            <a:ext cx="4663440" cy="14447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77240" y="3410712"/>
            <a:ext cx="1371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BPS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77240" y="39776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Banco de Prevision Social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703320" y="3392424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703320" y="406908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NNA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94360" y="4983480"/>
            <a:ext cx="4663440" cy="896112"/>
          </a:xfrm>
          <a:prstGeom prst="rect">
            <a:avLst/>
          </a:prstGeom>
          <a:solidFill>
            <a:srgbClr val="0EA5E9">
              <a:alpha val="9019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777240" y="50292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120 NNA en total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77240" y="543153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5 grupos de referencia por edad y modalidad de funcionamiento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94360" y="5961888"/>
            <a:ext cx="4663440" cy="292608"/>
          </a:xfrm>
          <a:prstGeom prst="rect">
            <a:avLst/>
          </a:prstGeom>
          <a:solidFill>
            <a:srgbClr val="F4F7FB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777240" y="5980176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80% de los NNA acuden ademas al sistema educativo formal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669280" y="1078992"/>
            <a:ext cx="6108192" cy="528523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5669280" y="1078992"/>
            <a:ext cx="6108192" cy="45720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852160" y="1124712"/>
            <a:ext cx="5742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 Talleres Especializados -- 2026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833872" y="18105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6062472" y="17830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Habilidades sociales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8823960" y="18105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9052560" y="17830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Higiene y cuidado personal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833872" y="22677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062472" y="22402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Habilidades para la vida cotidiana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8823960" y="22677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9052560" y="22402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Cocina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833872" y="27249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062472" y="26974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Cuentos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8823960" y="27249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9052560" y="26974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Musica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833872" y="31821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6062472" y="31546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Cine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823960" y="31821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9052560" y="31546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Medios audiovisuales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5833872" y="36393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6062472" y="36118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Informatica y programacion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8823960" y="36393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9052560" y="36118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Expresion plastica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833872" y="40965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6062472" y="40690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Actividades ludicas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8823960" y="40965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9052560" y="40690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Pedagogico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833872" y="45537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6062472" y="45262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Comunicacion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8823960" y="4553712"/>
            <a:ext cx="137160" cy="13716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9052560" y="452628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Educacion fisica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ac898b2a3_4_0"/>
          <p:cNvSpPr/>
          <p:nvPr/>
        </p:nvSpPr>
        <p:spPr>
          <a:xfrm>
            <a:off x="0" y="0"/>
            <a:ext cx="12161400" cy="639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eac898b2a3_4_0"/>
          <p:cNvSpPr/>
          <p:nvPr/>
        </p:nvSpPr>
        <p:spPr>
          <a:xfrm>
            <a:off x="411480" y="146304"/>
            <a:ext cx="11338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Poblacion atendida, convenios y talleres 2026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eac898b2a3_4_0"/>
          <p:cNvSpPr/>
          <p:nvPr/>
        </p:nvSpPr>
        <p:spPr>
          <a:xfrm>
            <a:off x="411480" y="859536"/>
            <a:ext cx="1645800" cy="456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ac898b2a3_4_0"/>
          <p:cNvSpPr/>
          <p:nvPr/>
        </p:nvSpPr>
        <p:spPr>
          <a:xfrm>
            <a:off x="0" y="6583680"/>
            <a:ext cx="12161400" cy="274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ac898b2a3_4_0"/>
          <p:cNvSpPr/>
          <p:nvPr/>
        </p:nvSpPr>
        <p:spPr>
          <a:xfrm>
            <a:off x="365760" y="6592824"/>
            <a:ext cx="11430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eac898b2a3_4_0"/>
          <p:cNvSpPr/>
          <p:nvPr/>
        </p:nvSpPr>
        <p:spPr>
          <a:xfrm>
            <a:off x="411480" y="1078992"/>
            <a:ext cx="5029200" cy="52851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ac898b2a3_4_0"/>
          <p:cNvSpPr/>
          <p:nvPr/>
        </p:nvSpPr>
        <p:spPr>
          <a:xfrm>
            <a:off x="411480" y="1078992"/>
            <a:ext cx="5029200" cy="4572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eac898b2a3_4_0"/>
          <p:cNvSpPr/>
          <p:nvPr/>
        </p:nvSpPr>
        <p:spPr>
          <a:xfrm>
            <a:off x="594360" y="1124712"/>
            <a:ext cx="466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Convenios vigentes -- Poblacion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eac898b2a3_4_0"/>
          <p:cNvSpPr/>
          <p:nvPr/>
        </p:nvSpPr>
        <p:spPr>
          <a:xfrm>
            <a:off x="594360" y="1719072"/>
            <a:ext cx="4663500" cy="144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eac898b2a3_4_0"/>
          <p:cNvSpPr/>
          <p:nvPr/>
        </p:nvSpPr>
        <p:spPr>
          <a:xfrm>
            <a:off x="777240" y="1810512"/>
            <a:ext cx="1371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INAU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eac898b2a3_4_0"/>
          <p:cNvSpPr/>
          <p:nvPr/>
        </p:nvSpPr>
        <p:spPr>
          <a:xfrm>
            <a:off x="777240" y="2377440"/>
            <a:ext cx="310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Instituto del Nino y Adolescente del Uruguay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eac898b2a3_4_0"/>
          <p:cNvSpPr/>
          <p:nvPr/>
        </p:nvSpPr>
        <p:spPr>
          <a:xfrm>
            <a:off x="3703320" y="1792224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eac898b2a3_4_0"/>
          <p:cNvSpPr/>
          <p:nvPr/>
        </p:nvSpPr>
        <p:spPr>
          <a:xfrm>
            <a:off x="3703320" y="2468880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NNA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eac898b2a3_4_0"/>
          <p:cNvSpPr/>
          <p:nvPr/>
        </p:nvSpPr>
        <p:spPr>
          <a:xfrm>
            <a:off x="594360" y="3319272"/>
            <a:ext cx="4663500" cy="144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ac898b2a3_4_0"/>
          <p:cNvSpPr/>
          <p:nvPr/>
        </p:nvSpPr>
        <p:spPr>
          <a:xfrm>
            <a:off x="777240" y="3410712"/>
            <a:ext cx="1371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BPS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eac898b2a3_4_0"/>
          <p:cNvSpPr/>
          <p:nvPr/>
        </p:nvSpPr>
        <p:spPr>
          <a:xfrm>
            <a:off x="777240" y="3977640"/>
            <a:ext cx="310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Banco de Prevision Social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ac898b2a3_4_0"/>
          <p:cNvSpPr/>
          <p:nvPr/>
        </p:nvSpPr>
        <p:spPr>
          <a:xfrm>
            <a:off x="3703320" y="3392424"/>
            <a:ext cx="137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ac898b2a3_4_0"/>
          <p:cNvSpPr/>
          <p:nvPr/>
        </p:nvSpPr>
        <p:spPr>
          <a:xfrm>
            <a:off x="3703320" y="4069080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NNA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ac898b2a3_4_0"/>
          <p:cNvSpPr/>
          <p:nvPr/>
        </p:nvSpPr>
        <p:spPr>
          <a:xfrm>
            <a:off x="594360" y="4983480"/>
            <a:ext cx="4663500" cy="896100"/>
          </a:xfrm>
          <a:prstGeom prst="rect">
            <a:avLst/>
          </a:prstGeom>
          <a:solidFill>
            <a:srgbClr val="0EA5E9">
              <a:alpha val="90200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ac898b2a3_4_0"/>
          <p:cNvSpPr/>
          <p:nvPr/>
        </p:nvSpPr>
        <p:spPr>
          <a:xfrm>
            <a:off x="777240" y="5029200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120 NNA en total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eac898b2a3_4_0"/>
          <p:cNvSpPr/>
          <p:nvPr/>
        </p:nvSpPr>
        <p:spPr>
          <a:xfrm>
            <a:off x="777240" y="5431536"/>
            <a:ext cx="429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5 grupos de referencia por edad y modalidad de funcionamiento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ac898b2a3_4_0"/>
          <p:cNvSpPr/>
          <p:nvPr/>
        </p:nvSpPr>
        <p:spPr>
          <a:xfrm>
            <a:off x="594360" y="5961888"/>
            <a:ext cx="4663500" cy="292500"/>
          </a:xfrm>
          <a:prstGeom prst="rect">
            <a:avLst/>
          </a:prstGeom>
          <a:solidFill>
            <a:srgbClr val="F4F7FB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ac898b2a3_4_0"/>
          <p:cNvSpPr/>
          <p:nvPr/>
        </p:nvSpPr>
        <p:spPr>
          <a:xfrm>
            <a:off x="777240" y="5980176"/>
            <a:ext cx="4389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80% de los NNA acuden ademas al sistema educativo formal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ac898b2a3_4_0"/>
          <p:cNvSpPr/>
          <p:nvPr/>
        </p:nvSpPr>
        <p:spPr>
          <a:xfrm>
            <a:off x="5669280" y="1078992"/>
            <a:ext cx="6108300" cy="52851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eac898b2a3_4_0"/>
          <p:cNvSpPr/>
          <p:nvPr/>
        </p:nvSpPr>
        <p:spPr>
          <a:xfrm>
            <a:off x="5669280" y="1078992"/>
            <a:ext cx="6108300" cy="457200"/>
          </a:xfrm>
          <a:prstGeom prst="rect">
            <a:avLst/>
          </a:prstGeom>
          <a:solidFill>
            <a:srgbClr val="0369A1"/>
          </a:solidFill>
          <a:ln cap="flat" cmpd="sng" w="127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ac898b2a3_4_0"/>
          <p:cNvSpPr/>
          <p:nvPr/>
        </p:nvSpPr>
        <p:spPr>
          <a:xfrm>
            <a:off x="5852160" y="1124712"/>
            <a:ext cx="5742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 Talleres Especializados -- 2026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ac898b2a3_4_0"/>
          <p:cNvSpPr/>
          <p:nvPr/>
        </p:nvSpPr>
        <p:spPr>
          <a:xfrm>
            <a:off x="5833872" y="18105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eac898b2a3_4_0"/>
          <p:cNvSpPr/>
          <p:nvPr/>
        </p:nvSpPr>
        <p:spPr>
          <a:xfrm>
            <a:off x="6062472" y="1783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Habilidades sociales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eac898b2a3_4_0"/>
          <p:cNvSpPr/>
          <p:nvPr/>
        </p:nvSpPr>
        <p:spPr>
          <a:xfrm>
            <a:off x="8823960" y="18105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ac898b2a3_4_0"/>
          <p:cNvSpPr/>
          <p:nvPr/>
        </p:nvSpPr>
        <p:spPr>
          <a:xfrm>
            <a:off x="9052560" y="1783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Higiene y cuidado personal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ac898b2a3_4_0"/>
          <p:cNvSpPr/>
          <p:nvPr/>
        </p:nvSpPr>
        <p:spPr>
          <a:xfrm>
            <a:off x="5833872" y="22677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ac898b2a3_4_0"/>
          <p:cNvSpPr/>
          <p:nvPr/>
        </p:nvSpPr>
        <p:spPr>
          <a:xfrm>
            <a:off x="6062472" y="22402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Habilidades para la vida cotidiana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ac898b2a3_4_0"/>
          <p:cNvSpPr/>
          <p:nvPr/>
        </p:nvSpPr>
        <p:spPr>
          <a:xfrm>
            <a:off x="8823960" y="22677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ac898b2a3_4_0"/>
          <p:cNvSpPr/>
          <p:nvPr/>
        </p:nvSpPr>
        <p:spPr>
          <a:xfrm>
            <a:off x="9052560" y="22402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Cocina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ac898b2a3_4_0"/>
          <p:cNvSpPr/>
          <p:nvPr/>
        </p:nvSpPr>
        <p:spPr>
          <a:xfrm>
            <a:off x="5833872" y="27249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ac898b2a3_4_0"/>
          <p:cNvSpPr/>
          <p:nvPr/>
        </p:nvSpPr>
        <p:spPr>
          <a:xfrm>
            <a:off x="6062472" y="26974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Cuentos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ac898b2a3_4_0"/>
          <p:cNvSpPr/>
          <p:nvPr/>
        </p:nvSpPr>
        <p:spPr>
          <a:xfrm>
            <a:off x="8823960" y="27249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ac898b2a3_4_0"/>
          <p:cNvSpPr/>
          <p:nvPr/>
        </p:nvSpPr>
        <p:spPr>
          <a:xfrm>
            <a:off x="9052560" y="26974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Musica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ac898b2a3_4_0"/>
          <p:cNvSpPr/>
          <p:nvPr/>
        </p:nvSpPr>
        <p:spPr>
          <a:xfrm>
            <a:off x="5833872" y="31821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ac898b2a3_4_0"/>
          <p:cNvSpPr/>
          <p:nvPr/>
        </p:nvSpPr>
        <p:spPr>
          <a:xfrm>
            <a:off x="6062472" y="31546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Cine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eac898b2a3_4_0"/>
          <p:cNvSpPr/>
          <p:nvPr/>
        </p:nvSpPr>
        <p:spPr>
          <a:xfrm>
            <a:off x="8823960" y="31821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ac898b2a3_4_0"/>
          <p:cNvSpPr/>
          <p:nvPr/>
        </p:nvSpPr>
        <p:spPr>
          <a:xfrm>
            <a:off x="9052560" y="31546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Medios audiovisuales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ac898b2a3_4_0"/>
          <p:cNvSpPr/>
          <p:nvPr/>
        </p:nvSpPr>
        <p:spPr>
          <a:xfrm>
            <a:off x="5833872" y="36393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ac898b2a3_4_0"/>
          <p:cNvSpPr/>
          <p:nvPr/>
        </p:nvSpPr>
        <p:spPr>
          <a:xfrm>
            <a:off x="6062472" y="36118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Informatica y programacion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ac898b2a3_4_0"/>
          <p:cNvSpPr/>
          <p:nvPr/>
        </p:nvSpPr>
        <p:spPr>
          <a:xfrm>
            <a:off x="8823960" y="36393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eac898b2a3_4_0"/>
          <p:cNvSpPr/>
          <p:nvPr/>
        </p:nvSpPr>
        <p:spPr>
          <a:xfrm>
            <a:off x="9052560" y="36118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Expresion plastica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eac898b2a3_4_0"/>
          <p:cNvSpPr/>
          <p:nvPr/>
        </p:nvSpPr>
        <p:spPr>
          <a:xfrm>
            <a:off x="5833872" y="40965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eac898b2a3_4_0"/>
          <p:cNvSpPr/>
          <p:nvPr/>
        </p:nvSpPr>
        <p:spPr>
          <a:xfrm>
            <a:off x="6062472" y="4069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Actividades ludicas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eac898b2a3_4_0"/>
          <p:cNvSpPr/>
          <p:nvPr/>
        </p:nvSpPr>
        <p:spPr>
          <a:xfrm>
            <a:off x="8823960" y="40965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ac898b2a3_4_0"/>
          <p:cNvSpPr/>
          <p:nvPr/>
        </p:nvSpPr>
        <p:spPr>
          <a:xfrm>
            <a:off x="9052560" y="40690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Pedagogico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eac898b2a3_4_0"/>
          <p:cNvSpPr/>
          <p:nvPr/>
        </p:nvSpPr>
        <p:spPr>
          <a:xfrm>
            <a:off x="5833872" y="45537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eac898b2a3_4_0"/>
          <p:cNvSpPr/>
          <p:nvPr/>
        </p:nvSpPr>
        <p:spPr>
          <a:xfrm>
            <a:off x="6062472" y="45262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Comunicacion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eac898b2a3_4_0"/>
          <p:cNvSpPr/>
          <p:nvPr/>
        </p:nvSpPr>
        <p:spPr>
          <a:xfrm>
            <a:off x="8823960" y="4553712"/>
            <a:ext cx="137100" cy="1371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ac898b2a3_4_0"/>
          <p:cNvSpPr/>
          <p:nvPr/>
        </p:nvSpPr>
        <p:spPr>
          <a:xfrm>
            <a:off x="9052560" y="4526280"/>
            <a:ext cx="2743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Educacion fisica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1B3A5C">
              <a:alpha val="45098"/>
            </a:srgbClr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457200" y="32004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INNOVACION Y DESARROLLO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Tecnologia al servicio de los NNA con TEA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457200" y="1481328"/>
            <a:ext cx="2926080" cy="45720"/>
          </a:xfrm>
          <a:prstGeom prst="rect">
            <a:avLst/>
          </a:prstGeom>
          <a:solidFill>
            <a:srgbClr val="0EA5E9">
              <a:alpha val="60000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457200" y="1719072"/>
            <a:ext cx="8046720" cy="1207008"/>
          </a:xfrm>
          <a:prstGeom prst="rect">
            <a:avLst/>
          </a:prstGeom>
          <a:solidFill>
            <a:srgbClr val="1B3A5C">
              <a:alpha val="74901"/>
            </a:srgbClr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594360" y="2066544"/>
            <a:ext cx="457200" cy="4572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594360" y="20665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1207008" y="1810512"/>
            <a:ext cx="7132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IDEA + Autismind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1207008" y="2231136"/>
            <a:ext cx="7132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Vinculo entre recursos de diagnostico, tratamiento y seguimiento: Inventario IDEA de Angel Riviere + evaluacion por areas y herramienta Autismind.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457200" y="3072384"/>
            <a:ext cx="8046720" cy="1207008"/>
          </a:xfrm>
          <a:prstGeom prst="rect">
            <a:avLst/>
          </a:prstGeom>
          <a:solidFill>
            <a:srgbClr val="1B3A5C">
              <a:alpha val="74901"/>
            </a:srgbClr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594360" y="3419856"/>
            <a:ext cx="457200" cy="4572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594360" y="34198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1207008" y="3163824"/>
            <a:ext cx="7132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HCE Digital Inteligente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1207008" y="3584448"/>
            <a:ext cx="7132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Automatizacion del analisis de la base de datos institucional. Evaluacion de procesos. Analisis de impacto de las intervenciones.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457200" y="4425696"/>
            <a:ext cx="8046720" cy="1207008"/>
          </a:xfrm>
          <a:prstGeom prst="rect">
            <a:avLst/>
          </a:prstGeom>
          <a:solidFill>
            <a:srgbClr val="1B3A5C">
              <a:alpha val="74901"/>
            </a:srgbClr>
          </a:solidFill>
          <a:ln cap="flat" cmpd="sng" w="12700">
            <a:solidFill>
              <a:srgbClr val="0EA5E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594360" y="4773168"/>
            <a:ext cx="457200" cy="4572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594360" y="4773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1207008" y="4517136"/>
            <a:ext cx="7132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 Aplicada al TEA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1207008" y="4937760"/>
            <a:ext cx="71323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Aplicabilidad de la Inteligencia Artificial en el trabajo clinico, pedagogico y comunicacional con los NNA con TEA.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57200" y="5669280"/>
            <a:ext cx="11292840" cy="914400"/>
          </a:xfrm>
          <a:prstGeom prst="rect">
            <a:avLst/>
          </a:prstGeom>
          <a:solidFill>
            <a:srgbClr val="0EA5E9">
              <a:alpha val="85098"/>
            </a:srgbClr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640080" y="57150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640080" y="6172200"/>
            <a:ext cx="128016" cy="128016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6"/>
          <p:cNvSpPr/>
          <p:nvPr/>
        </p:nvSpPr>
        <p:spPr>
          <a:xfrm>
            <a:off x="822960" y="612648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Mejorar lo hecho en 2025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2468880" y="6172200"/>
            <a:ext cx="128016" cy="128016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2651760" y="612648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Aumentar la poblacion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4297680" y="6172200"/>
            <a:ext cx="128016" cy="128016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4480560" y="612648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Nuevo instrumento evaluacion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6126480" y="6172200"/>
            <a:ext cx="128016" cy="12801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6309360" y="612648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CONVENIO UTEC-LIDIA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7955280" y="6172200"/>
            <a:ext cx="128016" cy="12801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8138160" y="612648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IA con los NNA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9784080" y="6172200"/>
            <a:ext cx="128016" cy="12801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"/>
          <p:cNvSpPr/>
          <p:nvPr/>
        </p:nvSpPr>
        <p:spPr>
          <a:xfrm>
            <a:off x="9966960" y="6126480"/>
            <a:ext cx="1600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Red de I+I+D/TEA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6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9235440" y="365760"/>
            <a:ext cx="25146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/>
          <p:nvPr/>
        </p:nvSpPr>
        <p:spPr>
          <a:xfrm>
            <a:off x="0" y="6309360"/>
            <a:ext cx="2432304" cy="548640"/>
          </a:xfrm>
          <a:prstGeom prst="rect">
            <a:avLst/>
          </a:prstGeom>
          <a:solidFill>
            <a:srgbClr val="0EA5E9">
              <a:alpha val="74901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2432304" y="6309360"/>
            <a:ext cx="2432304" cy="548640"/>
          </a:xfrm>
          <a:prstGeom prst="rect">
            <a:avLst/>
          </a:prstGeom>
          <a:solidFill>
            <a:srgbClr val="D97706">
              <a:alpha val="74901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4864608" y="6309360"/>
            <a:ext cx="2432304" cy="548640"/>
          </a:xfrm>
          <a:prstGeom prst="rect">
            <a:avLst/>
          </a:prstGeom>
          <a:solidFill>
            <a:srgbClr val="00897B">
              <a:alpha val="74901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7296912" y="6309360"/>
            <a:ext cx="2432304" cy="548640"/>
          </a:xfrm>
          <a:prstGeom prst="rect">
            <a:avLst/>
          </a:prstGeom>
          <a:solidFill>
            <a:srgbClr val="1565C0">
              <a:alpha val="74901"/>
            </a:srgbClr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9729216" y="6309360"/>
            <a:ext cx="2432304" cy="548640"/>
          </a:xfrm>
          <a:prstGeom prst="rect">
            <a:avLst/>
          </a:prstGeom>
          <a:solidFill>
            <a:srgbClr val="6A1B9A">
              <a:alpha val="74901"/>
            </a:srgbClr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1371600" y="1371600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CONOCIDA LA FUNDACION...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1371600" y="196596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continuacion: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914400" y="2633472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Convenio IPPU x UTEC-LIDIA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1371600" y="4114800"/>
            <a:ext cx="9418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Calibri"/>
              <a:buNone/>
            </a:pPr>
            <a:r>
              <a:rPr i="1" lang="en-US" sz="1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Cuatro lineas de trabajo en Inteligencia Artificial para la atencion del TEA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3200400" y="4892040"/>
            <a:ext cx="5760720" cy="54864"/>
          </a:xfrm>
          <a:prstGeom prst="rect">
            <a:avLst/>
          </a:prstGeom>
          <a:solidFill>
            <a:srgbClr val="5EEAD4">
              <a:alpha val="50196"/>
            </a:srgbClr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3337560" y="5120640"/>
            <a:ext cx="804672" cy="80467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"/>
          <p:cNvSpPr/>
          <p:nvPr/>
        </p:nvSpPr>
        <p:spPr>
          <a:xfrm>
            <a:off x="3337560" y="5120640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4754880" y="5120640"/>
            <a:ext cx="804672" cy="804672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7"/>
          <p:cNvSpPr/>
          <p:nvPr/>
        </p:nvSpPr>
        <p:spPr>
          <a:xfrm>
            <a:off x="4754880" y="5120640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6172200" y="5120640"/>
            <a:ext cx="804672" cy="804672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"/>
          <p:cNvSpPr/>
          <p:nvPr/>
        </p:nvSpPr>
        <p:spPr>
          <a:xfrm>
            <a:off x="6172200" y="5120640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7589520" y="5120640"/>
            <a:ext cx="804672" cy="804672"/>
          </a:xfrm>
          <a:prstGeom prst="ellipse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"/>
          <p:cNvSpPr/>
          <p:nvPr/>
        </p:nvSpPr>
        <p:spPr>
          <a:xfrm>
            <a:off x="7589520" y="5120640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B3A5C">
              <a:alpha val="45098"/>
            </a:srgbClr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237744" y="0"/>
            <a:ext cx="201168" cy="68580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475488" y="0"/>
            <a:ext cx="201168" cy="68580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713232" y="0"/>
            <a:ext cx="201168" cy="68580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1097280" y="5029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CONVENIO ESTRATEGICO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1097280" y="10058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IPPU x UTEC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1097280" y="2304288"/>
            <a:ext cx="8686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Cuatro Lineas de Trabajo en Inteligencia Artificial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900"/>
              <a:buFont typeface="Calibri"/>
              <a:buNone/>
            </a:pPr>
            <a:r>
              <a:rPr lang="en-US" sz="19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para la Atencion del Trastorno del Espectro Autista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1097280" y="3520440"/>
            <a:ext cx="2487168" cy="1828800"/>
          </a:xfrm>
          <a:prstGeom prst="rect">
            <a:avLst/>
          </a:prstGeom>
          <a:solidFill>
            <a:srgbClr val="D97706">
              <a:alpha val="87843"/>
            </a:srgbClr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1234440" y="3611880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1234440" y="420624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Historia Clinica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Electronica + IDEA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3803904" y="3520440"/>
            <a:ext cx="2487168" cy="1828800"/>
          </a:xfrm>
          <a:prstGeom prst="rect">
            <a:avLst/>
          </a:prstGeom>
          <a:solidFill>
            <a:srgbClr val="00897B">
              <a:alpha val="87843"/>
            </a:srgbClr>
          </a:solidFill>
          <a:ln cap="flat" cmpd="sng" w="1905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3941064" y="3611880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3941064" y="420624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Pictogramas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Personalizados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6510528" y="3520440"/>
            <a:ext cx="2487168" cy="1828800"/>
          </a:xfrm>
          <a:prstGeom prst="rect">
            <a:avLst/>
          </a:prstGeom>
          <a:solidFill>
            <a:srgbClr val="1565C0">
              <a:alpha val="87843"/>
            </a:srgbClr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6647688" y="3611880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6647688" y="420624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Asistente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Virtual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9217152" y="3520440"/>
            <a:ext cx="2487168" cy="1828800"/>
          </a:xfrm>
          <a:prstGeom prst="rect">
            <a:avLst/>
          </a:prstGeom>
          <a:solidFill>
            <a:srgbClr val="6A1B9A">
              <a:alpha val="87843"/>
            </a:srgbClr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9354312" y="3611880"/>
            <a:ext cx="685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9354312" y="4206240"/>
            <a:ext cx="22128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Patrones 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Visualizacion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1097280" y="6071616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-- Instituto Psico Pedagogico Uruguayo  |  Montevideo, Uruguay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1097280" y="6437376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Presentacion tecnica -- Licenciatura en Ingenieria de Datos e IA, UTEC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9052560" y="0"/>
            <a:ext cx="3108960" cy="6858000"/>
          </a:xfrm>
          <a:prstGeom prst="rect">
            <a:avLst/>
          </a:prstGeom>
          <a:solidFill>
            <a:srgbClr val="92400E">
              <a:alpha val="30196"/>
            </a:srgbClr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685800" y="594360"/>
            <a:ext cx="1234440" cy="123444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685800" y="594360"/>
            <a:ext cx="1234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2" name="Google Shape;372;p9"/>
          <p:cNvPicPr preferRelativeResize="0"/>
          <p:nvPr/>
        </p:nvPicPr>
        <p:blipFill rotWithShape="1">
          <a:blip r:embed="rId3">
            <a:alphaModFix amt="92000"/>
          </a:blip>
          <a:srcRect b="0" l="0" r="0" t="0"/>
          <a:stretch/>
        </p:blipFill>
        <p:spPr>
          <a:xfrm>
            <a:off x="594360" y="21031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/>
          <p:nvPr/>
        </p:nvSpPr>
        <p:spPr>
          <a:xfrm>
            <a:off x="2423160" y="96012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LINEA DE TRABAJO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2423160" y="1508760"/>
            <a:ext cx="8686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Historia Clinica Electronica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Protocolo IDEA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2423160" y="374904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Re-adecuacion del modulo de evaluacion longitudinal -- Integracion del inventario IDEA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 la HCE institucional de IPPU con arquitectura moderna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92400E">
              <a:alpha val="54901"/>
            </a:srgbClr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457200" y="6281928"/>
            <a:ext cx="112471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Fundacion IPPU x UTEC -- Licenciatura en Ingenieria de Datos e IA |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Contexto institucional -- IPPU y el desafio de integracion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411480" y="1078992"/>
            <a:ext cx="5349240" cy="52578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411480" y="1078992"/>
            <a:ext cx="5349240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566928" y="112471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Fundacion IPPU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594360" y="1719072"/>
            <a:ext cx="146304" cy="146304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868680" y="169164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Instituto Psico Pedagogico Uruguayo -- Atencion de NNA con TEA en Montevideo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94360" y="2542032"/>
            <a:ext cx="146304" cy="146304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868680" y="251460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18 talleres especializados: lenguaje, motricidad, habilidades sociales y mas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94360" y="3364992"/>
            <a:ext cx="146304" cy="146304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868680" y="333756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Equipo interdisciplinario: psicologos, psicopedagogos, neuropediatras, fonoaudiologos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594360" y="4187952"/>
            <a:ext cx="146304" cy="146304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868680" y="416052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HCE propia en funcionamiento desde 2020 (fundacionippu.uy)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594360" y="5010912"/>
            <a:ext cx="146304" cy="146304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868680" y="4983480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Alianza estrategica 2025-2026 con UTEC -- Lic. Ingenieria de Datos e 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5989320" y="1078992"/>
            <a:ext cx="5806440" cy="15727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5989320" y="1078992"/>
            <a:ext cx="64008" cy="157276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6181344" y="1188720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Estado actual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6181344" y="1609344"/>
            <a:ext cx="54406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Evaluaciones en papel o planillas sueltas. Sin trazabilidad longitudinal ni comparativa entre periodos.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989320" y="2816352"/>
            <a:ext cx="5806440" cy="15727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5989320" y="2816352"/>
            <a:ext cx="64008" cy="1572768"/>
          </a:xfrm>
          <a:prstGeom prst="rect">
            <a:avLst/>
          </a:prstGeom>
          <a:solidFill>
            <a:srgbClr val="92400E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6181344" y="2926080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181344" y="3346704"/>
            <a:ext cx="54406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Registro digital integrado en la HCE: de la evaluacion IDEA al expediente del NNA en un solo flujo de trabajo.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5989320" y="4553712"/>
            <a:ext cx="5806440" cy="15727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5989320" y="4553712"/>
            <a:ext cx="64008" cy="157276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6181344" y="4663440"/>
            <a:ext cx="5440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Rol del equipo UTEC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6181344" y="5084064"/>
            <a:ext cx="54406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Construir el modulo de evaluacion IDEA dentro del sistema HCE institucional existente.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La HCE de IPPU hoy -- Pantalla principal y formulario de evaluacion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411480" y="1024128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Capturas del sistema React en funcionamiento (fundacionippu.uy) -- Video demo: youtube.com/watch?v=dMWfc0JKCC0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411480" y="1481328"/>
            <a:ext cx="5577840" cy="4224528"/>
          </a:xfrm>
          <a:prstGeom prst="rect">
            <a:avLst/>
          </a:prstGeom>
          <a:solidFill>
            <a:srgbClr val="F4F7FB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5" name="Google Shape;4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75" y="1481350"/>
            <a:ext cx="5523000" cy="416962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1"/>
          <p:cNvSpPr/>
          <p:nvPr/>
        </p:nvSpPr>
        <p:spPr>
          <a:xfrm>
            <a:off x="411480" y="5742432"/>
            <a:ext cx="5577840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502920" y="577900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Pantalla inicio -- Lista de NNA con estado de evaluaciones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6172200" y="1481328"/>
            <a:ext cx="5577900" cy="4224600"/>
          </a:xfrm>
          <a:prstGeom prst="rect">
            <a:avLst/>
          </a:prstGeom>
          <a:solidFill>
            <a:srgbClr val="F4F7FB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650" y="1499612"/>
            <a:ext cx="5523000" cy="41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1"/>
          <p:cNvSpPr/>
          <p:nvPr/>
        </p:nvSpPr>
        <p:spPr>
          <a:xfrm>
            <a:off x="6172200" y="5742432"/>
            <a:ext cx="5577840" cy="457200"/>
          </a:xfrm>
          <a:prstGeom prst="rect">
            <a:avLst/>
          </a:prstGeom>
          <a:solidFill>
            <a:srgbClr val="92400E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6263640" y="577900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Formulario IDEA -- 12 dimensiones, radio buttons, progreso por escala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La HCE de IPPU hoy -- Evaluacion intermedia e informe automatico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411480" y="1024128"/>
            <a:ext cx="11338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El sistema genera automaticamente el informe anual con tabla comparativa y grafico de barras -- Listo para imprimir en PDF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11480" y="1481328"/>
            <a:ext cx="5577840" cy="4224528"/>
          </a:xfrm>
          <a:prstGeom prst="rect">
            <a:avLst/>
          </a:prstGeom>
          <a:solidFill>
            <a:srgbClr val="F4F7FB"/>
          </a:solidFill>
          <a:ln cap="flat" cmpd="sng" w="254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4" name="Google Shape;444;p12"/>
          <p:cNvPicPr preferRelativeResize="0"/>
          <p:nvPr/>
        </p:nvPicPr>
        <p:blipFill rotWithShape="1">
          <a:blip r:embed="rId3">
            <a:alphaModFix/>
          </a:blip>
          <a:srcRect b="-32767" l="0" r="-81620" t="0"/>
          <a:stretch/>
        </p:blipFill>
        <p:spPr>
          <a:xfrm>
            <a:off x="993610" y="1302998"/>
            <a:ext cx="9569499" cy="5280674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2"/>
          <p:cNvSpPr/>
          <p:nvPr/>
        </p:nvSpPr>
        <p:spPr>
          <a:xfrm>
            <a:off x="411480" y="5742432"/>
            <a:ext cx="5577840" cy="45720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2"/>
          <p:cNvSpPr/>
          <p:nvPr/>
        </p:nvSpPr>
        <p:spPr>
          <a:xfrm>
            <a:off x="502920" y="577900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Evaluacion intermedia -- Escala Likert 1-5, formula de conversion a equivalente IDEA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6172200" y="1481328"/>
            <a:ext cx="5577840" cy="4224528"/>
          </a:xfrm>
          <a:prstGeom prst="rect">
            <a:avLst/>
          </a:prstGeom>
          <a:solidFill>
            <a:srgbClr val="F4F7FB"/>
          </a:solidFill>
          <a:ln cap="flat" cmpd="sng" w="25400">
            <a:solidFill>
              <a:srgbClr val="5C35A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8" name="Google Shape;44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625" y="1508750"/>
            <a:ext cx="5522976" cy="4169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2"/>
          <p:cNvSpPr/>
          <p:nvPr/>
        </p:nvSpPr>
        <p:spPr>
          <a:xfrm>
            <a:off x="6172200" y="5742432"/>
            <a:ext cx="5577840" cy="457200"/>
          </a:xfrm>
          <a:prstGeom prst="rect">
            <a:avLst/>
          </a:prstGeom>
          <a:solidFill>
            <a:srgbClr val="5C35A5"/>
          </a:solidFill>
          <a:ln cap="flat" cmpd="sng" w="12700">
            <a:solidFill>
              <a:srgbClr val="5C3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6263640" y="577900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Informe anual automatico -- Comparativa IDEA, grafico de evolucion, resumen clinico, PDF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Protocolo IDEA -- 4 escalas, 12 dimensiones, Puntuacion 0-96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411480" y="107899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Cada dimension puntua de 0 a 8. Puntaje 0 = sin trastorno, 8 = afectacion severa. Siempre asignar el valor mas bajo posible.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411480" y="1664208"/>
            <a:ext cx="5577840" cy="226771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411480" y="1664208"/>
            <a:ext cx="5577840" cy="47548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548640" y="172821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Relacion Social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4389120" y="174650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 D2 D3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576072" y="2340864"/>
            <a:ext cx="5257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Aislamiento a Vinculacion. Referencia conjunta. Teoria de la Mente.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576072" y="3200400"/>
            <a:ext cx="5257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Max. 24 pts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6309360" y="1664208"/>
            <a:ext cx="5577840" cy="226771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"/>
          <p:cNvSpPr/>
          <p:nvPr/>
        </p:nvSpPr>
        <p:spPr>
          <a:xfrm>
            <a:off x="6309360" y="1664208"/>
            <a:ext cx="5577840" cy="47548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6446520" y="172821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Comunicacion y Lenguaje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10287000" y="174650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 D5 D6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6473952" y="2340864"/>
            <a:ext cx="5257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Funciones comunicativas. Lenguaje expresivo y receptivo.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6473952" y="3200400"/>
            <a:ext cx="5257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Max. 24 pts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411480" y="4133088"/>
            <a:ext cx="5577840" cy="226771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411480" y="4133088"/>
            <a:ext cx="5577840" cy="475488"/>
          </a:xfrm>
          <a:prstGeom prst="rect">
            <a:avLst/>
          </a:prstGeom>
          <a:solidFill>
            <a:srgbClr val="5C35A5"/>
          </a:solidFill>
          <a:ln cap="flat" cmpd="sng" w="12700">
            <a:solidFill>
              <a:srgbClr val="5C3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548640" y="419709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Anticipacion / Flexibilidad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4389120" y="421538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D7 D8 D9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576072" y="4809744"/>
            <a:ext cx="5257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Resistencia al cambio. Estereotipias y rituales. Sentido de la actividad.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576072" y="5669280"/>
            <a:ext cx="5257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35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C35A5"/>
                </a:solidFill>
                <a:latin typeface="Calibri"/>
                <a:ea typeface="Calibri"/>
                <a:cs typeface="Calibri"/>
                <a:sym typeface="Calibri"/>
              </a:rPr>
              <a:t>Max. 24 pts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6309360" y="4133088"/>
            <a:ext cx="5577840" cy="226771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6309360" y="4133088"/>
            <a:ext cx="5577840" cy="475488"/>
          </a:xfrm>
          <a:prstGeom prst="rect">
            <a:avLst/>
          </a:prstGeom>
          <a:solidFill>
            <a:srgbClr val="BE185D"/>
          </a:solidFill>
          <a:ln cap="flat" cmpd="sng" w="12700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6446520" y="4197096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Simbolizacion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10287000" y="421538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D10 D11 D12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6473952" y="4809744"/>
            <a:ext cx="5257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Ficcion e imaginacion. Imitacion. Suspension (creacion de significantes).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6473952" y="5669280"/>
            <a:ext cx="5257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E185D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BE185D"/>
                </a:solidFill>
                <a:latin typeface="Calibri"/>
                <a:ea typeface="Calibri"/>
                <a:cs typeface="Calibri"/>
                <a:sym typeface="Calibri"/>
              </a:rPr>
              <a:t>Max. 24 pts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4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4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Arquitectura tecnica -- Herramienta React e integracion con la HCE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411480" y="1078992"/>
            <a:ext cx="2724912" cy="53492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411480" y="1078992"/>
            <a:ext cx="2724912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502920" y="1920240"/>
            <a:ext cx="2542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FRONTEND React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502920" y="2331720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Modulo de evaluacion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612648" y="2816352"/>
            <a:ext cx="137160" cy="13716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841248" y="2788920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Formulario IDEA (12 dimensiones)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612648" y="3474720"/>
            <a:ext cx="137160" cy="13716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841248" y="3447288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Form. Likert 3 items/dim.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612648" y="4133088"/>
            <a:ext cx="137160" cy="13716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841248" y="4105656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Informe Final + BarChart (recharts)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612648" y="4791456"/>
            <a:ext cx="137160" cy="13716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841248" y="4764024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React Router / Tailwind CSS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3310128" y="1078992"/>
            <a:ext cx="2724912" cy="53492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3310128" y="1078992"/>
            <a:ext cx="2724912" cy="54864"/>
          </a:xfrm>
          <a:prstGeom prst="rect">
            <a:avLst/>
          </a:prstGeom>
          <a:solidFill>
            <a:srgbClr val="92400E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3401568" y="1920240"/>
            <a:ext cx="2542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3401568" y="2331720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Node.js / Python FastAPI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3511296" y="2816352"/>
            <a:ext cx="137160" cy="137160"/>
          </a:xfrm>
          <a:prstGeom prst="ellipse">
            <a:avLst/>
          </a:prstGeom>
          <a:solidFill>
            <a:srgbClr val="92400E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3739896" y="2788920"/>
            <a:ext cx="2176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9 endpoints CRUD definidos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3511296" y="3474720"/>
            <a:ext cx="137160" cy="137160"/>
          </a:xfrm>
          <a:prstGeom prst="ellipse">
            <a:avLst/>
          </a:prstGeom>
          <a:solidFill>
            <a:srgbClr val="92400E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4"/>
          <p:cNvSpPr/>
          <p:nvPr/>
        </p:nvSpPr>
        <p:spPr>
          <a:xfrm>
            <a:off x="3739896" y="3447288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Autenticacion JWT por terapeuta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3511296" y="4133088"/>
            <a:ext cx="137160" cy="137160"/>
          </a:xfrm>
          <a:prstGeom prst="ellipse">
            <a:avLst/>
          </a:prstGeom>
          <a:solidFill>
            <a:srgbClr val="92400E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"/>
          <p:cNvSpPr/>
          <p:nvPr/>
        </p:nvSpPr>
        <p:spPr>
          <a:xfrm>
            <a:off x="3739896" y="4105656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Validacion Zod / Pydantic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3511296" y="4791456"/>
            <a:ext cx="137160" cy="137160"/>
          </a:xfrm>
          <a:prstGeom prst="ellipse">
            <a:avLst/>
          </a:prstGeom>
          <a:solidFill>
            <a:srgbClr val="92400E"/>
          </a:solidFill>
          <a:ln cap="flat" cmpd="sng" w="127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3739896" y="4764024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Documentacion OpenAPI/Swagger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6208776" y="1078992"/>
            <a:ext cx="2724912" cy="53492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6208776" y="1078992"/>
            <a:ext cx="2724912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6300216" y="1920240"/>
            <a:ext cx="2542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6300216" y="2331720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PostgreSQL / MariaDB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6409944" y="2816352"/>
            <a:ext cx="137160" cy="13716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4"/>
          <p:cNvSpPr/>
          <p:nvPr/>
        </p:nvSpPr>
        <p:spPr>
          <a:xfrm>
            <a:off x="6638544" y="2788920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Tablas: nna, evaluaciones_idea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6409944" y="3474720"/>
            <a:ext cx="137160" cy="13716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6638544" y="3447288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dimensiones_idea, items_likert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6409944" y="4133088"/>
            <a:ext cx="137160" cy="13716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4"/>
          <p:cNvSpPr/>
          <p:nvPr/>
        </p:nvSpPr>
        <p:spPr>
          <a:xfrm>
            <a:off x="6638544" y="4105656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terapeutas, roles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6409944" y="4791456"/>
            <a:ext cx="137160" cy="13716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6638544" y="4764024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Prisma ORM / pg_dump backup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9107424" y="1078992"/>
            <a:ext cx="2724912" cy="53492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9107424" y="1078992"/>
            <a:ext cx="2724912" cy="54864"/>
          </a:xfrm>
          <a:prstGeom prst="rect">
            <a:avLst/>
          </a:prstGeom>
          <a:solidFill>
            <a:srgbClr val="BE185D"/>
          </a:solidFill>
          <a:ln cap="flat" cmpd="sng" w="12700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4"/>
          <p:cNvSpPr/>
          <p:nvPr/>
        </p:nvSpPr>
        <p:spPr>
          <a:xfrm>
            <a:off x="9198864" y="1920240"/>
            <a:ext cx="2542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HCE IPPU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9198864" y="2331720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E185D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BE185D"/>
                </a:solidFill>
                <a:latin typeface="Calibri"/>
                <a:ea typeface="Calibri"/>
                <a:cs typeface="Calibri"/>
                <a:sym typeface="Calibri"/>
              </a:rPr>
              <a:t>Sistema existente (web)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9308592" y="2816352"/>
            <a:ext cx="137160" cy="137160"/>
          </a:xfrm>
          <a:prstGeom prst="ellipse">
            <a:avLst/>
          </a:prstGeom>
          <a:solidFill>
            <a:srgbClr val="BE185D"/>
          </a:solidFill>
          <a:ln cap="flat" cmpd="sng" w="12700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4"/>
          <p:cNvSpPr/>
          <p:nvPr/>
        </p:nvSpPr>
        <p:spPr>
          <a:xfrm>
            <a:off x="9537192" y="2788920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Expedientes / Roles / Auth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9308592" y="3474720"/>
            <a:ext cx="137160" cy="137160"/>
          </a:xfrm>
          <a:prstGeom prst="ellipse">
            <a:avLst/>
          </a:prstGeom>
          <a:solidFill>
            <a:srgbClr val="BE185D"/>
          </a:solidFill>
          <a:ln cap="flat" cmpd="sng" w="12700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4"/>
          <p:cNvSpPr/>
          <p:nvPr/>
        </p:nvSpPr>
        <p:spPr>
          <a:xfrm>
            <a:off x="9537192" y="3447288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Integracion: iframe (minimo viable)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9308592" y="4133088"/>
            <a:ext cx="137160" cy="137160"/>
          </a:xfrm>
          <a:prstGeom prst="ellipse">
            <a:avLst/>
          </a:prstGeom>
          <a:solidFill>
            <a:srgbClr val="BE185D"/>
          </a:solidFill>
          <a:ln cap="flat" cmpd="sng" w="12700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9537192" y="4105656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O: modulo nativo con API propia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9308592" y="4791456"/>
            <a:ext cx="137160" cy="137160"/>
          </a:xfrm>
          <a:prstGeom prst="ellipse">
            <a:avLst/>
          </a:prstGeom>
          <a:solidFill>
            <a:srgbClr val="BE185D"/>
          </a:solidFill>
          <a:ln cap="flat" cmpd="sng" w="12700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4"/>
          <p:cNvSpPr/>
          <p:nvPr/>
        </p:nvSpPr>
        <p:spPr>
          <a:xfrm>
            <a:off x="9537192" y="4764024"/>
            <a:ext cx="21762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Docker + NGINX / CI/CD GitHub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457200" y="16459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L1  --  REFERENCIAS Y RECURSOS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457200" y="676656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HCE + Protocolo IDEA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457200" y="1161288"/>
            <a:ext cx="11247120" cy="36576"/>
          </a:xfrm>
          <a:prstGeom prst="rect">
            <a:avLst/>
          </a:prstGeom>
          <a:solidFill>
            <a:srgbClr val="D97706">
              <a:alpha val="50196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502920" y="1325880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D9770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502920" y="1325880"/>
            <a:ext cx="64008" cy="1371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667512" y="1399032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Demo HCE de IPPU (YouTube)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667512" y="1801368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Fundacion IPPU, 2024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667512" y="2084832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youtube.com/watch?v=dMWfc0JKCC0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502920" y="2807208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D9770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5"/>
          <p:cNvSpPr/>
          <p:nvPr/>
        </p:nvSpPr>
        <p:spPr>
          <a:xfrm>
            <a:off x="502920" y="2807208"/>
            <a:ext cx="64008" cy="1371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5"/>
          <p:cNvSpPr/>
          <p:nvPr/>
        </p:nvSpPr>
        <p:spPr>
          <a:xfrm>
            <a:off x="667512" y="2880360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IDEA -- Inventario del Espectro Autista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667512" y="3282696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Angel Riviere, 1997 -- PSYMTEC Madrid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5"/>
          <p:cNvSpPr/>
          <p:nvPr/>
        </p:nvSpPr>
        <p:spPr>
          <a:xfrm>
            <a:off x="667512" y="3566160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Referencia: Riviere, A. (1997). IDEA: Inventario del Espectro Autista. PSYMTEC.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/>
          <p:nvPr/>
        </p:nvSpPr>
        <p:spPr>
          <a:xfrm>
            <a:off x="502920" y="4288536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D9770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502920" y="4288536"/>
            <a:ext cx="64008" cy="1371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667512" y="436168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18 -- Documentacion oficial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/>
          <p:nvPr/>
        </p:nvSpPr>
        <p:spPr>
          <a:xfrm>
            <a:off x="667512" y="4764024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Meta / React Team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/>
          <p:nvPr/>
        </p:nvSpPr>
        <p:spPr>
          <a:xfrm>
            <a:off x="667512" y="5047488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react.dev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6492240" y="1325880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D9770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6492240" y="1325880"/>
            <a:ext cx="64008" cy="1371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6656832" y="1399032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-- Framework moderno Python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5"/>
          <p:cNvSpPr/>
          <p:nvPr/>
        </p:nvSpPr>
        <p:spPr>
          <a:xfrm>
            <a:off x="6656832" y="1801368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Sebastian Ramirez / Tiangolo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5"/>
          <p:cNvSpPr/>
          <p:nvPr/>
        </p:nvSpPr>
        <p:spPr>
          <a:xfrm>
            <a:off x="6656832" y="2084832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fastapi.tiangolo.com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/>
          <p:nvPr/>
        </p:nvSpPr>
        <p:spPr>
          <a:xfrm>
            <a:off x="6492240" y="2807208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D9770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6492240" y="2807208"/>
            <a:ext cx="64008" cy="1371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6656832" y="2880360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-- Base de datos relacional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6656832" y="3282696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PostgreSQL Global Development Group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5"/>
          <p:cNvSpPr/>
          <p:nvPr/>
        </p:nvSpPr>
        <p:spPr>
          <a:xfrm>
            <a:off x="6656832" y="3566160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postgresql.org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5"/>
          <p:cNvSpPr/>
          <p:nvPr/>
        </p:nvSpPr>
        <p:spPr>
          <a:xfrm>
            <a:off x="6492240" y="4288536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D9770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6492240" y="4288536"/>
            <a:ext cx="64008" cy="1371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5"/>
          <p:cNvSpPr/>
          <p:nvPr/>
        </p:nvSpPr>
        <p:spPr>
          <a:xfrm>
            <a:off x="6656832" y="436168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 Authentication -- RFC 7519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6656832" y="4764024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Jones, Bradley &amp; Sakimura, IETF 2015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6656832" y="5047488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datatracker.ietf.org/doc/html/rfc7519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6"/>
          <p:cNvSpPr/>
          <p:nvPr/>
        </p:nvSpPr>
        <p:spPr>
          <a:xfrm>
            <a:off x="9052560" y="0"/>
            <a:ext cx="3108960" cy="6858000"/>
          </a:xfrm>
          <a:prstGeom prst="rect">
            <a:avLst/>
          </a:prstGeom>
          <a:solidFill>
            <a:srgbClr val="00695C">
              <a:alpha val="30196"/>
            </a:srgbClr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685800" y="594360"/>
            <a:ext cx="1234440" cy="123444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6"/>
          <p:cNvSpPr/>
          <p:nvPr/>
        </p:nvSpPr>
        <p:spPr>
          <a:xfrm>
            <a:off x="685800" y="594360"/>
            <a:ext cx="1234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3" name="Google Shape;593;p16"/>
          <p:cNvPicPr preferRelativeResize="0"/>
          <p:nvPr/>
        </p:nvPicPr>
        <p:blipFill rotWithShape="1">
          <a:blip r:embed="rId3">
            <a:alphaModFix amt="92000"/>
          </a:blip>
          <a:srcRect b="0" l="0" r="0" t="0"/>
          <a:stretch/>
        </p:blipFill>
        <p:spPr>
          <a:xfrm>
            <a:off x="594360" y="21031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6"/>
          <p:cNvSpPr/>
          <p:nvPr/>
        </p:nvSpPr>
        <p:spPr>
          <a:xfrm>
            <a:off x="2423160" y="96012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LINEA DE TRABAJO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2423160" y="1508760"/>
            <a:ext cx="8686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Pictogramas Personalizados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Digitales con IA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2423160" y="374904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Creacion de imagenes simbolicas contextualizadas a partir de fotos del entorno real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del NNA, accesibles para tecnicos, familias y docentes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00695C">
              <a:alpha val="54901"/>
            </a:srgbClr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6"/>
          <p:cNvSpPr/>
          <p:nvPr/>
        </p:nvSpPr>
        <p:spPr>
          <a:xfrm>
            <a:off x="457200" y="6281928"/>
            <a:ext cx="112471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Fundacion IPPU x UTEC -- Licenciatura en Ingenieria de Datos e IA |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7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Por que pictogramas personalizados? -- El problema y la evidencia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411480" y="1078992"/>
            <a:ext cx="5349240" cy="102412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7"/>
          <p:cNvSpPr/>
          <p:nvPr/>
        </p:nvSpPr>
        <p:spPr>
          <a:xfrm>
            <a:off x="411480" y="1078992"/>
            <a:ext cx="64008" cy="10241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>
            <a:off x="594360" y="1170432"/>
            <a:ext cx="5102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Representaciones genericas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594360" y="1554480"/>
            <a:ext cx="5102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Los sistemas estandar no reflejan el contexto cotidiano ni los objetos/personas del entorno real del NNA.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411480" y="2221992"/>
            <a:ext cx="5349240" cy="102412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7"/>
          <p:cNvSpPr/>
          <p:nvPr/>
        </p:nvSpPr>
        <p:spPr>
          <a:xfrm>
            <a:off x="411480" y="2221992"/>
            <a:ext cx="64008" cy="10241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594360" y="2313432"/>
            <a:ext cx="5102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Baja adherencia al sistema CAA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594360" y="2697480"/>
            <a:ext cx="5102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El nino no identifica el simbolo porque no corresponde a su realidad familiar o cultural latinoamericana.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411480" y="3364992"/>
            <a:ext cx="5349240" cy="102412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7"/>
          <p:cNvSpPr/>
          <p:nvPr/>
        </p:nvSpPr>
        <p:spPr>
          <a:xfrm>
            <a:off x="411480" y="3364992"/>
            <a:ext cx="64008" cy="10241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"/>
          <p:cNvSpPr/>
          <p:nvPr/>
        </p:nvSpPr>
        <p:spPr>
          <a:xfrm>
            <a:off x="594360" y="3456432"/>
            <a:ext cx="5102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Carga excesiva para el tecnico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594360" y="3840480"/>
            <a:ext cx="5102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La personalizacion manual de cada pictograma consume tiempo que deberia destinarse a la intervencion directa.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411480" y="4507992"/>
            <a:ext cx="5349240" cy="102412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7"/>
          <p:cNvSpPr/>
          <p:nvPr/>
        </p:nvSpPr>
        <p:spPr>
          <a:xfrm>
            <a:off x="411480" y="4507992"/>
            <a:ext cx="64008" cy="102412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594360" y="4599432"/>
            <a:ext cx="51023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Brecha cultural-geografica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594360" y="4983480"/>
            <a:ext cx="5102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Los sistemas globales (ARASAAC, Widgit) no siempre contemplan contextos rioplatenses ni objetos locales.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6035040" y="1024128"/>
            <a:ext cx="5760720" cy="539496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7"/>
          <p:cNvSpPr/>
          <p:nvPr/>
        </p:nvSpPr>
        <p:spPr>
          <a:xfrm>
            <a:off x="6291072" y="118872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EVIDENCIA CLAVE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6291072" y="1691640"/>
            <a:ext cx="5303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Draffan et al. (2023) -- Southampton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6291072" y="2112264"/>
            <a:ext cx="5303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La IA generativa puede producir simbolos adaptados al estilo del individuo o al contexto cultural local. Piloto 6 meses con alta satisfaccion.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6199632" y="2752344"/>
            <a:ext cx="5394960" cy="27432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6291072" y="2807208"/>
            <a:ext cx="5303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Fontana De Vargas et al. (2024) -- ACM CHI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6291072" y="3227832"/>
            <a:ext cx="5303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QuickPic: tableros AAC generados desde fotografias. Reduce carga de programacion y aumenta relevancia funcional.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6199632" y="3867912"/>
            <a:ext cx="5394960" cy="27432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6291072" y="3922776"/>
            <a:ext cx="5303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EasyRead Image Gen. (2026) -- ETH Zurich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6291072" y="4343400"/>
            <a:ext cx="5303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Modelos de difusion con fine-tuning ligero generan pictogramas de accesibilidad cognitiva. Vanguardia 2026.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6199632" y="4983480"/>
            <a:ext cx="5394960" cy="27432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6291072" y="5038344"/>
            <a:ext cx="5303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Washington &amp; Wall (2023) -- Annual Rev.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6291072" y="5458968"/>
            <a:ext cx="5303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Revision de 158 estudios: la personalizacion contextual emerge como factor clave de adherencia en sistemas de apoyo para TEA.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8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8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Pictogramas estandar -- que son, como se ven y sus limitaciones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8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8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411480" y="1024128"/>
            <a:ext cx="11338560" cy="749808"/>
          </a:xfrm>
          <a:prstGeom prst="rect">
            <a:avLst/>
          </a:prstGeom>
          <a:solidFill>
            <a:srgbClr val="00897B">
              <a:alpha val="12156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8"/>
          <p:cNvSpPr/>
          <p:nvPr/>
        </p:nvSpPr>
        <p:spPr>
          <a:xfrm>
            <a:off x="411480" y="1024128"/>
            <a:ext cx="64008" cy="7498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8"/>
          <p:cNvSpPr/>
          <p:nvPr/>
        </p:nvSpPr>
        <p:spPr>
          <a:xfrm>
            <a:off x="594360" y="1051560"/>
            <a:ext cx="11064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Los pictogramas son representaciones visuales simplificadas de conceptos, acciones y objetos. Se usan en Sistemas Aumentativos y Alternativos de Comunicacion (SAAC/AAC) para NNA con TEA. El sistema de referencia mundial es ARASAAC (30.000+ simbolos, licencia Creative Commons, Gobierno de Aragon).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411480" y="1938528"/>
            <a:ext cx="2633472" cy="13898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2" name="Google Shape;6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2011680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18"/>
          <p:cNvSpPr/>
          <p:nvPr/>
        </p:nvSpPr>
        <p:spPr>
          <a:xfrm>
            <a:off x="1581912" y="206654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COMER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1581912" y="24505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Estilo ARASAAC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3227832" y="1938528"/>
            <a:ext cx="2633472" cy="13898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6" name="Google Shape;6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2011680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8"/>
          <p:cNvSpPr/>
          <p:nvPr/>
        </p:nvSpPr>
        <p:spPr>
          <a:xfrm>
            <a:off x="4398264" y="206654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DORMIR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4398264" y="24505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Estilo ARASAAC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6044184" y="1938528"/>
            <a:ext cx="2633472" cy="13898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0" name="Google Shape;6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3912" y="2011680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18"/>
          <p:cNvSpPr/>
          <p:nvPr/>
        </p:nvSpPr>
        <p:spPr>
          <a:xfrm>
            <a:off x="7214616" y="206654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JUGAR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8"/>
          <p:cNvSpPr/>
          <p:nvPr/>
        </p:nvSpPr>
        <p:spPr>
          <a:xfrm>
            <a:off x="7214616" y="24505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Estilo ARASAAC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411480" y="3447288"/>
            <a:ext cx="2633472" cy="13898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4" name="Google Shape;6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208" y="3520440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18"/>
          <p:cNvSpPr/>
          <p:nvPr/>
        </p:nvSpPr>
        <p:spPr>
          <a:xfrm>
            <a:off x="1581912" y="357530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FELIZ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8"/>
          <p:cNvSpPr/>
          <p:nvPr/>
        </p:nvSpPr>
        <p:spPr>
          <a:xfrm>
            <a:off x="1581912" y="395935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Estilo ARASAAC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8"/>
          <p:cNvSpPr/>
          <p:nvPr/>
        </p:nvSpPr>
        <p:spPr>
          <a:xfrm>
            <a:off x="3227832" y="3447288"/>
            <a:ext cx="2633472" cy="13898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8" name="Google Shape;66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7560" y="3520440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8"/>
          <p:cNvSpPr/>
          <p:nvPr/>
        </p:nvSpPr>
        <p:spPr>
          <a:xfrm>
            <a:off x="4398264" y="357530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TRISTE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4398264" y="395935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Estilo ARASAAC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8"/>
          <p:cNvSpPr/>
          <p:nvPr/>
        </p:nvSpPr>
        <p:spPr>
          <a:xfrm>
            <a:off x="6044184" y="3447288"/>
            <a:ext cx="2633472" cy="13898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2" name="Google Shape;67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53912" y="3520440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18"/>
          <p:cNvSpPr/>
          <p:nvPr/>
        </p:nvSpPr>
        <p:spPr>
          <a:xfrm>
            <a:off x="7214616" y="357530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CASA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7214616" y="395935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Estilo ARASAAC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8"/>
          <p:cNvSpPr/>
          <p:nvPr/>
        </p:nvSpPr>
        <p:spPr>
          <a:xfrm>
            <a:off x="411480" y="4956048"/>
            <a:ext cx="2633472" cy="13898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6" name="Google Shape;67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1208" y="5029200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18"/>
          <p:cNvSpPr/>
          <p:nvPr/>
        </p:nvSpPr>
        <p:spPr>
          <a:xfrm>
            <a:off x="1581912" y="508406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AGUA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8"/>
          <p:cNvSpPr/>
          <p:nvPr/>
        </p:nvSpPr>
        <p:spPr>
          <a:xfrm>
            <a:off x="1581912" y="546811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Estilo ARASAAC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8"/>
          <p:cNvSpPr/>
          <p:nvPr/>
        </p:nvSpPr>
        <p:spPr>
          <a:xfrm>
            <a:off x="3227832" y="4956048"/>
            <a:ext cx="2633472" cy="13898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0" name="Google Shape;68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37560" y="5029200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18"/>
          <p:cNvSpPr/>
          <p:nvPr/>
        </p:nvSpPr>
        <p:spPr>
          <a:xfrm>
            <a:off x="4398264" y="508406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FAMILIA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4398264" y="546811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Estilo ARASAAC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8"/>
          <p:cNvSpPr/>
          <p:nvPr/>
        </p:nvSpPr>
        <p:spPr>
          <a:xfrm>
            <a:off x="6044184" y="4956048"/>
            <a:ext cx="2633472" cy="138988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4" name="Google Shape;68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53912" y="5029200"/>
            <a:ext cx="987552" cy="987552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18"/>
          <p:cNvSpPr/>
          <p:nvPr/>
        </p:nvSpPr>
        <p:spPr>
          <a:xfrm>
            <a:off x="7214616" y="508406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ESCUELA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/>
          <p:nvPr/>
        </p:nvSpPr>
        <p:spPr>
          <a:xfrm>
            <a:off x="7214616" y="546811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Estilo ARASAAC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411480" y="6455664"/>
            <a:ext cx="11338560" cy="768096"/>
          </a:xfrm>
          <a:prstGeom prst="rect">
            <a:avLst/>
          </a:prstGeom>
          <a:solidFill>
            <a:srgbClr val="FEF3C7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8"/>
          <p:cNvSpPr/>
          <p:nvPr/>
        </p:nvSpPr>
        <p:spPr>
          <a:xfrm>
            <a:off x="411480" y="6455664"/>
            <a:ext cx="64008" cy="76809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8"/>
          <p:cNvSpPr/>
          <p:nvPr/>
        </p:nvSpPr>
        <p:spPr>
          <a:xfrm>
            <a:off x="594360" y="6492240"/>
            <a:ext cx="110642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Limitacion clave: estos pictogramas son genericos, no reflejan el entorno cotidiano del NNA. Un nino no reconoce la taza de un sistema global como la suya propia. La Linea 2 propone generar pictogramas desde fotografias reales del NNA, su familia y su entorno concreto.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9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9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 la fotografia al pictograma personalizado -- como funciona la IA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9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9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411480" y="1024128"/>
            <a:ext cx="11338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Basado en QuickPic AAC (Boston Children's Hospital / McGill Univ., CHI 2024). GPT-3.5 genera 58% mas vocabulario relevante que el metodo anterior. Alta satisfaccion de fonoaudiologos en estudio clinico (n=8). iOS y Android.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411480" y="1627632"/>
            <a:ext cx="2880360" cy="43434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9"/>
          <p:cNvSpPr/>
          <p:nvPr/>
        </p:nvSpPr>
        <p:spPr>
          <a:xfrm>
            <a:off x="411480" y="1627632"/>
            <a:ext cx="2880360" cy="402336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9"/>
          <p:cNvSpPr/>
          <p:nvPr/>
        </p:nvSpPr>
        <p:spPr>
          <a:xfrm>
            <a:off x="521208" y="1682496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1 -- FOTOGRAFIA REAL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9"/>
          <p:cNvSpPr/>
          <p:nvPr/>
        </p:nvSpPr>
        <p:spPr>
          <a:xfrm>
            <a:off x="576072" y="2157984"/>
            <a:ext cx="2542032" cy="1664208"/>
          </a:xfrm>
          <a:prstGeom prst="rect">
            <a:avLst/>
          </a:prstGeom>
          <a:solidFill>
            <a:srgbClr val="87CEEB"/>
          </a:solidFill>
          <a:ln cap="flat" cmpd="sng" w="12700">
            <a:solidFill>
              <a:srgbClr val="5BA4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9"/>
          <p:cNvSpPr/>
          <p:nvPr/>
        </p:nvSpPr>
        <p:spPr>
          <a:xfrm>
            <a:off x="576072" y="3511296"/>
            <a:ext cx="2542032" cy="347472"/>
          </a:xfrm>
          <a:prstGeom prst="rect">
            <a:avLst/>
          </a:prstGeom>
          <a:solidFill>
            <a:srgbClr val="8BC34A"/>
          </a:solidFill>
          <a:ln cap="flat" cmpd="sng" w="12700">
            <a:solidFill>
              <a:srgbClr val="6A9E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9"/>
          <p:cNvSpPr/>
          <p:nvPr/>
        </p:nvSpPr>
        <p:spPr>
          <a:xfrm>
            <a:off x="1161288" y="2834640"/>
            <a:ext cx="1371600" cy="694944"/>
          </a:xfrm>
          <a:prstGeom prst="rect">
            <a:avLst/>
          </a:prstGeom>
          <a:solidFill>
            <a:srgbClr val="F5F5DC"/>
          </a:solidFill>
          <a:ln cap="flat" cmpd="sng" w="25400">
            <a:solidFill>
              <a:srgbClr val="C0A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9"/>
          <p:cNvSpPr/>
          <p:nvPr/>
        </p:nvSpPr>
        <p:spPr>
          <a:xfrm>
            <a:off x="1161288" y="2340864"/>
            <a:ext cx="1371600" cy="5303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A33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9"/>
          <p:cNvSpPr/>
          <p:nvPr/>
        </p:nvSpPr>
        <p:spPr>
          <a:xfrm>
            <a:off x="521208" y="395020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50"/>
              <a:buFont typeface="Calibri"/>
              <a:buNone/>
            </a:pPr>
            <a:r>
              <a:rPr b="1" i="1" lang="en-US" sz="10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Foto: la casa de Juan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9"/>
          <p:cNvSpPr/>
          <p:nvPr/>
        </p:nvSpPr>
        <p:spPr>
          <a:xfrm>
            <a:off x="521208" y="4325112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Tomada con smartphone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por tecnico o familia.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Sin preparacion previa.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En el entorno real del NNA.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9"/>
          <p:cNvSpPr/>
          <p:nvPr/>
        </p:nvSpPr>
        <p:spPr>
          <a:xfrm>
            <a:off x="3401568" y="3593592"/>
            <a:ext cx="960120" cy="73152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9"/>
          <p:cNvSpPr/>
          <p:nvPr/>
        </p:nvSpPr>
        <p:spPr>
          <a:xfrm>
            <a:off x="4206240" y="3456432"/>
            <a:ext cx="164592" cy="347472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9"/>
          <p:cNvSpPr/>
          <p:nvPr/>
        </p:nvSpPr>
        <p:spPr>
          <a:xfrm>
            <a:off x="3401568" y="370332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9"/>
          <p:cNvSpPr/>
          <p:nvPr/>
        </p:nvSpPr>
        <p:spPr>
          <a:xfrm>
            <a:off x="4462272" y="1627632"/>
            <a:ext cx="3291840" cy="4343400"/>
          </a:xfrm>
          <a:prstGeom prst="rect">
            <a:avLst/>
          </a:prstGeom>
          <a:solidFill>
            <a:srgbClr val="0D1B2A">
              <a:alpha val="94901"/>
            </a:srgbClr>
          </a:solidFill>
          <a:ln cap="flat" cmpd="sng" w="1905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9"/>
          <p:cNvSpPr/>
          <p:nvPr/>
        </p:nvSpPr>
        <p:spPr>
          <a:xfrm>
            <a:off x="4462272" y="1627632"/>
            <a:ext cx="3291840" cy="402336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9"/>
          <p:cNvSpPr/>
          <p:nvPr/>
        </p:nvSpPr>
        <p:spPr>
          <a:xfrm>
            <a:off x="4572000" y="1682496"/>
            <a:ext cx="30723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2 -- MOTOR DE 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9"/>
          <p:cNvSpPr/>
          <p:nvPr/>
        </p:nvSpPr>
        <p:spPr>
          <a:xfrm>
            <a:off x="4599432" y="2249424"/>
            <a:ext cx="274320" cy="27432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9"/>
          <p:cNvSpPr/>
          <p:nvPr/>
        </p:nvSpPr>
        <p:spPr>
          <a:xfrm>
            <a:off x="4599432" y="22494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9"/>
          <p:cNvSpPr/>
          <p:nvPr/>
        </p:nvSpPr>
        <p:spPr>
          <a:xfrm>
            <a:off x="4965192" y="2231136"/>
            <a:ext cx="2670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Vision por computadora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9"/>
          <p:cNvSpPr/>
          <p:nvPr/>
        </p:nvSpPr>
        <p:spPr>
          <a:xfrm>
            <a:off x="4965192" y="2560320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0D4F0"/>
                </a:solidFill>
                <a:latin typeface="Calibri"/>
                <a:ea typeface="Calibri"/>
                <a:cs typeface="Calibri"/>
                <a:sym typeface="Calibri"/>
              </a:rPr>
              <a:t>Detecta objetos, escenas y personas en la foto (SAM / CLIP / GPT-4V).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9"/>
          <p:cNvSpPr/>
          <p:nvPr/>
        </p:nvSpPr>
        <p:spPr>
          <a:xfrm>
            <a:off x="4599432" y="3163824"/>
            <a:ext cx="274320" cy="27432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9"/>
          <p:cNvSpPr/>
          <p:nvPr/>
        </p:nvSpPr>
        <p:spPr>
          <a:xfrm>
            <a:off x="4599432" y="31638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9"/>
          <p:cNvSpPr/>
          <p:nvPr/>
        </p:nvSpPr>
        <p:spPr>
          <a:xfrm>
            <a:off x="4965192" y="3145536"/>
            <a:ext cx="2670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Analisis semantico (LLM)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9"/>
          <p:cNvSpPr/>
          <p:nvPr/>
        </p:nvSpPr>
        <p:spPr>
          <a:xfrm>
            <a:off x="4965192" y="3474720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0D4F0"/>
                </a:solidFill>
                <a:latin typeface="Calibri"/>
                <a:ea typeface="Calibri"/>
                <a:cs typeface="Calibri"/>
                <a:sym typeface="Calibri"/>
              </a:rPr>
              <a:t>GPT-4 / Claude infiere vocabulario relevante relacionado con la imagen.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9"/>
          <p:cNvSpPr/>
          <p:nvPr/>
        </p:nvSpPr>
        <p:spPr>
          <a:xfrm>
            <a:off x="4599432" y="4078224"/>
            <a:ext cx="274320" cy="27432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9"/>
          <p:cNvSpPr/>
          <p:nvPr/>
        </p:nvSpPr>
        <p:spPr>
          <a:xfrm>
            <a:off x="4599432" y="40782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4965192" y="4059936"/>
            <a:ext cx="2670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Estilizacion pictografica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4965192" y="4389120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0D4F0"/>
                </a:solidFill>
                <a:latin typeface="Calibri"/>
                <a:ea typeface="Calibri"/>
                <a:cs typeface="Calibri"/>
                <a:sym typeface="Calibri"/>
              </a:rPr>
              <a:t>Modelo de difusion (Stable Diffusion img2img) transforma el objeto en simbolo.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9"/>
          <p:cNvSpPr/>
          <p:nvPr/>
        </p:nvSpPr>
        <p:spPr>
          <a:xfrm>
            <a:off x="4599432" y="4992624"/>
            <a:ext cx="274320" cy="274320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9"/>
          <p:cNvSpPr/>
          <p:nvPr/>
        </p:nvSpPr>
        <p:spPr>
          <a:xfrm>
            <a:off x="4599432" y="499262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9"/>
          <p:cNvSpPr/>
          <p:nvPr/>
        </p:nvSpPr>
        <p:spPr>
          <a:xfrm>
            <a:off x="4965192" y="4974336"/>
            <a:ext cx="2670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Etiquetado NLP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4965192" y="5303520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B0D4F0"/>
                </a:solidFill>
                <a:latin typeface="Calibri"/>
                <a:ea typeface="Calibri"/>
                <a:cs typeface="Calibri"/>
                <a:sym typeface="Calibri"/>
              </a:rPr>
              <a:t>Asigna categoria gramatical y etiqueta en espanol rioplatense.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9"/>
          <p:cNvSpPr/>
          <p:nvPr/>
        </p:nvSpPr>
        <p:spPr>
          <a:xfrm>
            <a:off x="7863840" y="3593592"/>
            <a:ext cx="960120" cy="73152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9"/>
          <p:cNvSpPr/>
          <p:nvPr/>
        </p:nvSpPr>
        <p:spPr>
          <a:xfrm>
            <a:off x="8668512" y="3456432"/>
            <a:ext cx="164592" cy="347472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9"/>
          <p:cNvSpPr/>
          <p:nvPr/>
        </p:nvSpPr>
        <p:spPr>
          <a:xfrm>
            <a:off x="7863840" y="3703320"/>
            <a:ext cx="960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/>
          <p:nvPr/>
        </p:nvSpPr>
        <p:spPr>
          <a:xfrm>
            <a:off x="8942832" y="1627632"/>
            <a:ext cx="2807208" cy="43434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9"/>
          <p:cNvSpPr/>
          <p:nvPr/>
        </p:nvSpPr>
        <p:spPr>
          <a:xfrm>
            <a:off x="8942832" y="1627632"/>
            <a:ext cx="2807208" cy="402336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9"/>
          <p:cNvSpPr/>
          <p:nvPr/>
        </p:nvSpPr>
        <p:spPr>
          <a:xfrm>
            <a:off x="9052560" y="1682496"/>
            <a:ext cx="25786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3 -- TABLERO AAC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9"/>
          <p:cNvSpPr/>
          <p:nvPr/>
        </p:nvSpPr>
        <p:spPr>
          <a:xfrm>
            <a:off x="9079992" y="2157984"/>
            <a:ext cx="1188720" cy="10241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9" name="Google Shape;7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720" y="221284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19"/>
          <p:cNvSpPr/>
          <p:nvPr/>
        </p:nvSpPr>
        <p:spPr>
          <a:xfrm>
            <a:off x="9774936" y="2304288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casa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10378440" y="2157984"/>
            <a:ext cx="1188720" cy="10241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2" name="Google Shape;74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8168" y="221284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19"/>
          <p:cNvSpPr/>
          <p:nvPr/>
        </p:nvSpPr>
        <p:spPr>
          <a:xfrm>
            <a:off x="11073384" y="2304288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feliz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9"/>
          <p:cNvSpPr/>
          <p:nvPr/>
        </p:nvSpPr>
        <p:spPr>
          <a:xfrm>
            <a:off x="9079992" y="3346704"/>
            <a:ext cx="1188720" cy="10241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5" name="Google Shape;7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720" y="340156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19"/>
          <p:cNvSpPr/>
          <p:nvPr/>
        </p:nvSpPr>
        <p:spPr>
          <a:xfrm>
            <a:off x="9774936" y="3493008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familia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9"/>
          <p:cNvSpPr/>
          <p:nvPr/>
        </p:nvSpPr>
        <p:spPr>
          <a:xfrm>
            <a:off x="10378440" y="3346704"/>
            <a:ext cx="1188720" cy="10241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8" name="Google Shape;74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88168" y="340156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19"/>
          <p:cNvSpPr/>
          <p:nvPr/>
        </p:nvSpPr>
        <p:spPr>
          <a:xfrm>
            <a:off x="11073384" y="3493008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agua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9"/>
          <p:cNvSpPr/>
          <p:nvPr/>
        </p:nvSpPr>
        <p:spPr>
          <a:xfrm>
            <a:off x="9079992" y="4535424"/>
            <a:ext cx="1188720" cy="10241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1" name="Google Shape;75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9720" y="459028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19"/>
          <p:cNvSpPr/>
          <p:nvPr/>
        </p:nvSpPr>
        <p:spPr>
          <a:xfrm>
            <a:off x="9774936" y="4681728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comer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10378440" y="4535424"/>
            <a:ext cx="1188720" cy="10241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4" name="Google Shape;75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88168" y="459028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19"/>
          <p:cNvSpPr/>
          <p:nvPr/>
        </p:nvSpPr>
        <p:spPr>
          <a:xfrm>
            <a:off x="11073384" y="4681728"/>
            <a:ext cx="438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jugar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9"/>
          <p:cNvSpPr/>
          <p:nvPr/>
        </p:nvSpPr>
        <p:spPr>
          <a:xfrm>
            <a:off x="9052560" y="5632704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Pictogramas del entorno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real del NNA generados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automaticamente por 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411480" y="6089904"/>
            <a:ext cx="11338560" cy="713232"/>
          </a:xfrm>
          <a:prstGeom prst="rect">
            <a:avLst/>
          </a:prstGeom>
          <a:solidFill>
            <a:srgbClr val="00897B">
              <a:alpha val="12156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9"/>
          <p:cNvSpPr/>
          <p:nvPr/>
        </p:nvSpPr>
        <p:spPr>
          <a:xfrm>
            <a:off x="594360" y="61264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QuickPic AAC disponible ya en iOS y Android: apps.apple.com/us/app/quickpic-aac/id6444422388  |  play.google.com/store/apps/details?id=com.quickpic  |  Demostracion en vivo recomendada: sacar una foto en la reunion y ver el tablero generado en segundos.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20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Videos, demos y recursos para explorar -- Linea 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0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0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411480" y="102412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Videos y demos disponibles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0"/>
          <p:cNvSpPr/>
          <p:nvPr/>
        </p:nvSpPr>
        <p:spPr>
          <a:xfrm>
            <a:off x="411480" y="1572768"/>
            <a:ext cx="5486400" cy="1417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0"/>
          <p:cNvSpPr/>
          <p:nvPr/>
        </p:nvSpPr>
        <p:spPr>
          <a:xfrm>
            <a:off x="411480" y="1572768"/>
            <a:ext cx="64008" cy="141732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0"/>
          <p:cNvSpPr/>
          <p:nvPr/>
        </p:nvSpPr>
        <p:spPr>
          <a:xfrm>
            <a:off x="594360" y="1682496"/>
            <a:ext cx="713232" cy="292608"/>
          </a:xfrm>
          <a:prstGeom prst="rect">
            <a:avLst/>
          </a:prstGeom>
          <a:solidFill>
            <a:srgbClr val="00897B">
              <a:alpha val="85098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594360" y="1682496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1417320" y="164592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QuickPic AAC -- Demo en App Store / Google Play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1417320" y="2029968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iOS + Android -- Disponible para probar HOY mismo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0"/>
          <p:cNvSpPr/>
          <p:nvPr/>
        </p:nvSpPr>
        <p:spPr>
          <a:xfrm>
            <a:off x="1417320" y="2322576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iOS: apps.apple.com/us/app/quickpic-aac/id6444422388   Android: play.google.com/store/apps/details?id=com.quickpic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594360" y="2670048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Sacar una foto en la reunion y ver en segundos el tablero de pictogramas generado por IA. La demostracion mas directa del concepto propuesto para IPPU.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411480" y="3145536"/>
            <a:ext cx="5486400" cy="1417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0"/>
          <p:cNvSpPr/>
          <p:nvPr/>
        </p:nvSpPr>
        <p:spPr>
          <a:xfrm>
            <a:off x="411480" y="3145536"/>
            <a:ext cx="64008" cy="141732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0"/>
          <p:cNvSpPr/>
          <p:nvPr/>
        </p:nvSpPr>
        <p:spPr>
          <a:xfrm>
            <a:off x="594360" y="3255264"/>
            <a:ext cx="713232" cy="292608"/>
          </a:xfrm>
          <a:prstGeom prst="rect">
            <a:avLst/>
          </a:prstGeom>
          <a:solidFill>
            <a:srgbClr val="00695C">
              <a:alpha val="85098"/>
            </a:srgbClr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20"/>
          <p:cNvSpPr/>
          <p:nvPr/>
        </p:nvSpPr>
        <p:spPr>
          <a:xfrm>
            <a:off x="594360" y="3255264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0"/>
          <p:cNvSpPr/>
          <p:nvPr/>
        </p:nvSpPr>
        <p:spPr>
          <a:xfrm>
            <a:off x="1417320" y="3218688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Creacion de tableros AAC -- Canal PrAACtical AAC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1417320" y="360273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5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YouTube -- Muestra el proceso manual que QuickPic automatiza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1417320" y="3895344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youtube.com/watch?v=6PtrH0NvJz8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0"/>
          <p:cNvSpPr/>
          <p:nvPr/>
        </p:nvSpPr>
        <p:spPr>
          <a:xfrm>
            <a:off x="594360" y="4242816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Contraste del flujo manual vs el automatizado con IA. Util para mostrar la reduccion de carga que propone la Linea 2.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411480" y="4718304"/>
            <a:ext cx="5486400" cy="1417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20"/>
          <p:cNvSpPr/>
          <p:nvPr/>
        </p:nvSpPr>
        <p:spPr>
          <a:xfrm>
            <a:off x="411480" y="4718304"/>
            <a:ext cx="64008" cy="141732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0"/>
          <p:cNvSpPr/>
          <p:nvPr/>
        </p:nvSpPr>
        <p:spPr>
          <a:xfrm>
            <a:off x="594360" y="4828032"/>
            <a:ext cx="713232" cy="292608"/>
          </a:xfrm>
          <a:prstGeom prst="rect">
            <a:avLst/>
          </a:prstGeom>
          <a:solidFill>
            <a:srgbClr val="00695C">
              <a:alpha val="85098"/>
            </a:srgbClr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20"/>
          <p:cNvSpPr/>
          <p:nvPr/>
        </p:nvSpPr>
        <p:spPr>
          <a:xfrm>
            <a:off x="594360" y="4828032"/>
            <a:ext cx="7132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TUTORIAL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1417320" y="4791456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ARASAAC Aula Abierta -- Videotutoriales AAC en espanol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1417320" y="5175504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95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00695C"/>
                </a:solidFill>
                <a:latin typeface="Calibri"/>
                <a:ea typeface="Calibri"/>
                <a:cs typeface="Calibri"/>
                <a:sym typeface="Calibri"/>
              </a:rPr>
              <a:t>aulaabierta.arasaac.org -- Portal de referencia mundial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0"/>
          <p:cNvSpPr/>
          <p:nvPr/>
        </p:nvSpPr>
        <p:spPr>
          <a:xfrm>
            <a:off x="1417320" y="5468112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aulaabierta.arasaac.org/en/arasaac-pictographic-system-of-reference-in-the-aac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0"/>
          <p:cNvSpPr/>
          <p:nvPr/>
        </p:nvSpPr>
        <p:spPr>
          <a:xfrm>
            <a:off x="594360" y="5815584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Tutoriales completos sobre pictogramas AAC, agendas visuales, tableros de comunicacion y historias sociales en espanol.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6126480" y="1024128"/>
            <a:ext cx="5623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Investigaciones clave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6126480" y="1572768"/>
            <a:ext cx="5623560" cy="11155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0"/>
          <p:cNvSpPr/>
          <p:nvPr/>
        </p:nvSpPr>
        <p:spPr>
          <a:xfrm>
            <a:off x="6126480" y="1572768"/>
            <a:ext cx="64008" cy="111556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0"/>
          <p:cNvSpPr/>
          <p:nvPr/>
        </p:nvSpPr>
        <p:spPr>
          <a:xfrm>
            <a:off x="6291072" y="1645920"/>
            <a:ext cx="658368" cy="292608"/>
          </a:xfrm>
          <a:prstGeom prst="rect">
            <a:avLst/>
          </a:prstGeom>
          <a:solidFill>
            <a:srgbClr val="00897B">
              <a:alpha val="85098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0"/>
          <p:cNvSpPr/>
          <p:nvPr/>
        </p:nvSpPr>
        <p:spPr>
          <a:xfrm>
            <a:off x="6291072" y="1645920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CLAVE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7022592" y="1645920"/>
            <a:ext cx="45902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Co-Designing QuickPic (ACM CHI 2024)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0"/>
          <p:cNvSpPr/>
          <p:nvPr/>
        </p:nvSpPr>
        <p:spPr>
          <a:xfrm>
            <a:off x="7022592" y="1993392"/>
            <a:ext cx="4590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Fontana De Vargas et al.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0"/>
          <p:cNvSpPr/>
          <p:nvPr/>
        </p:nvSpPr>
        <p:spPr>
          <a:xfrm>
            <a:off x="6291072" y="2267712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dl.acm.org/doi/10.1145/3613904.3642080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6291072" y="2542032"/>
            <a:ext cx="5321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Diseno co-participativo con fonoaudiologos y docentes de educacion especial durante 17 meses.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6126480" y="2807208"/>
            <a:ext cx="5623560" cy="11155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0"/>
          <p:cNvSpPr/>
          <p:nvPr/>
        </p:nvSpPr>
        <p:spPr>
          <a:xfrm>
            <a:off x="6126480" y="2807208"/>
            <a:ext cx="64008" cy="111556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0"/>
          <p:cNvSpPr/>
          <p:nvPr/>
        </p:nvSpPr>
        <p:spPr>
          <a:xfrm>
            <a:off x="6291072" y="2880360"/>
            <a:ext cx="658368" cy="292608"/>
          </a:xfrm>
          <a:prstGeom prst="rect">
            <a:avLst/>
          </a:prstGeom>
          <a:solidFill>
            <a:srgbClr val="00897B">
              <a:alpha val="85098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0"/>
          <p:cNvSpPr/>
          <p:nvPr/>
        </p:nvSpPr>
        <p:spPr>
          <a:xfrm>
            <a:off x="6291072" y="2880360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0"/>
          <p:cNvSpPr/>
          <p:nvPr/>
        </p:nvSpPr>
        <p:spPr>
          <a:xfrm>
            <a:off x="7022592" y="2880360"/>
            <a:ext cx="45902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QuickPic AAC -- Validacion clinica (MDPI, 2024)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0"/>
          <p:cNvSpPr/>
          <p:nvPr/>
        </p:nvSpPr>
        <p:spPr>
          <a:xfrm>
            <a:off x="7022592" y="3227832"/>
            <a:ext cx="4590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Yu, Schlosser et al. -- Boston Children's Hospital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0"/>
          <p:cNvSpPr/>
          <p:nvPr/>
        </p:nvSpPr>
        <p:spPr>
          <a:xfrm>
            <a:off x="6291072" y="3502152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pubmed.ncbi.nlm.nih.gov/39338033  |  doi.org/10.3390/ijerph21091150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0"/>
          <p:cNvSpPr/>
          <p:nvPr/>
        </p:nvSpPr>
        <p:spPr>
          <a:xfrm>
            <a:off x="6291072" y="3776472"/>
            <a:ext cx="5321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GPT-3.5 genera 58% vocabulario relevante retenido. Alta satisfaccion de fonoaudiologos (n=8).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0"/>
          <p:cNvSpPr/>
          <p:nvPr/>
        </p:nvSpPr>
        <p:spPr>
          <a:xfrm>
            <a:off x="6126480" y="4041648"/>
            <a:ext cx="5623560" cy="11155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0"/>
          <p:cNvSpPr/>
          <p:nvPr/>
        </p:nvSpPr>
        <p:spPr>
          <a:xfrm>
            <a:off x="6126480" y="4041648"/>
            <a:ext cx="64008" cy="111556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0"/>
          <p:cNvSpPr/>
          <p:nvPr/>
        </p:nvSpPr>
        <p:spPr>
          <a:xfrm>
            <a:off x="6291072" y="4114800"/>
            <a:ext cx="658368" cy="292608"/>
          </a:xfrm>
          <a:prstGeom prst="rect">
            <a:avLst/>
          </a:prstGeom>
          <a:solidFill>
            <a:srgbClr val="00897B">
              <a:alpha val="85098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0"/>
          <p:cNvSpPr/>
          <p:nvPr/>
        </p:nvSpPr>
        <p:spPr>
          <a:xfrm>
            <a:off x="6291072" y="4114800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0"/>
          <p:cNvSpPr/>
          <p:nvPr/>
        </p:nvSpPr>
        <p:spPr>
          <a:xfrm>
            <a:off x="7022592" y="4114800"/>
            <a:ext cx="45902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Generacion de Pictogramas con IA Generativa (2024)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0"/>
          <p:cNvSpPr/>
          <p:nvPr/>
        </p:nvSpPr>
        <p:spPr>
          <a:xfrm>
            <a:off x="7022592" y="4462272"/>
            <a:ext cx="4590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Maldonado Gilarranz -- Univ. Comillas, Madrid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0"/>
          <p:cNvSpPr/>
          <p:nvPr/>
        </p:nvSpPr>
        <p:spPr>
          <a:xfrm>
            <a:off x="6291072" y="4736592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repositorio.comillas.edu/xmlui/handle/11531/78852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0"/>
          <p:cNvSpPr/>
          <p:nvPr/>
        </p:nvSpPr>
        <p:spPr>
          <a:xfrm>
            <a:off x="6291072" y="5010912"/>
            <a:ext cx="5321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En espanol: GANs, Autoencoders y modelos autoregresivos para expandir banco ARASAAC con variantes culturales.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0"/>
          <p:cNvSpPr/>
          <p:nvPr/>
        </p:nvSpPr>
        <p:spPr>
          <a:xfrm>
            <a:off x="6126480" y="5276088"/>
            <a:ext cx="5623560" cy="1115568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0"/>
          <p:cNvSpPr/>
          <p:nvPr/>
        </p:nvSpPr>
        <p:spPr>
          <a:xfrm>
            <a:off x="6126480" y="5276088"/>
            <a:ext cx="64008" cy="111556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0"/>
          <p:cNvSpPr/>
          <p:nvPr/>
        </p:nvSpPr>
        <p:spPr>
          <a:xfrm>
            <a:off x="6291072" y="5349240"/>
            <a:ext cx="658368" cy="292608"/>
          </a:xfrm>
          <a:prstGeom prst="rect">
            <a:avLst/>
          </a:prstGeom>
          <a:solidFill>
            <a:srgbClr val="00897B">
              <a:alpha val="85098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0"/>
          <p:cNvSpPr/>
          <p:nvPr/>
        </p:nvSpPr>
        <p:spPr>
          <a:xfrm>
            <a:off x="6291072" y="5349240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0"/>
          <p:cNvSpPr/>
          <p:nvPr/>
        </p:nvSpPr>
        <p:spPr>
          <a:xfrm>
            <a:off x="7022592" y="5349240"/>
            <a:ext cx="45902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EasyRead Image Generation (ETH Zurich -- CHI 2026)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0"/>
          <p:cNvSpPr/>
          <p:nvPr/>
        </p:nvSpPr>
        <p:spPr>
          <a:xfrm>
            <a:off x="7022592" y="5696712"/>
            <a:ext cx="45902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Dickenmann et al.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0"/>
          <p:cNvSpPr/>
          <p:nvPr/>
        </p:nvSpPr>
        <p:spPr>
          <a:xfrm>
            <a:off x="6291072" y="5971032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arxiv.org/abs/2603.13695  |  doi.org/10.1145/3772363.3798916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0"/>
          <p:cNvSpPr/>
          <p:nvPr/>
        </p:nvSpPr>
        <p:spPr>
          <a:xfrm>
            <a:off x="6291072" y="6245352"/>
            <a:ext cx="5321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Fine-tuning de modelos de difusion para pictogramas de accesibilidad cognitiva conformes a EasyRead.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2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21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Pipeline tecnico -- Foto personal a Pictograma personalizado a Biblioteca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1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1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1"/>
          <p:cNvSpPr/>
          <p:nvPr/>
        </p:nvSpPr>
        <p:spPr>
          <a:xfrm>
            <a:off x="411480" y="1078992"/>
            <a:ext cx="2157984" cy="4572000"/>
          </a:xfrm>
          <a:prstGeom prst="rect">
            <a:avLst/>
          </a:prstGeom>
          <a:solidFill>
            <a:srgbClr val="00897B">
              <a:alpha val="87843"/>
            </a:srgbClr>
          </a:solidFill>
          <a:ln cap="flat" cmpd="sng" w="1905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1"/>
          <p:cNvSpPr/>
          <p:nvPr/>
        </p:nvSpPr>
        <p:spPr>
          <a:xfrm>
            <a:off x="1133856" y="1216152"/>
            <a:ext cx="713232" cy="713232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21"/>
          <p:cNvSpPr/>
          <p:nvPr/>
        </p:nvSpPr>
        <p:spPr>
          <a:xfrm>
            <a:off x="1133856" y="121615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1"/>
          <p:cNvSpPr/>
          <p:nvPr/>
        </p:nvSpPr>
        <p:spPr>
          <a:xfrm>
            <a:off x="521208" y="2048256"/>
            <a:ext cx="19385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Captura de imagenes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1"/>
          <p:cNvSpPr/>
          <p:nvPr/>
        </p:nvSpPr>
        <p:spPr>
          <a:xfrm>
            <a:off x="521208" y="2697480"/>
            <a:ext cx="1938528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Fotos del NNA, su entorno, objetos, familia. Tomadas con smartphone por tecnico, familia o docente.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2734056" y="1078992"/>
            <a:ext cx="2157984" cy="4572000"/>
          </a:xfrm>
          <a:prstGeom prst="rect">
            <a:avLst/>
          </a:prstGeom>
          <a:solidFill>
            <a:srgbClr val="00897B">
              <a:alpha val="87843"/>
            </a:srgbClr>
          </a:solidFill>
          <a:ln cap="flat" cmpd="sng" w="1905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21"/>
          <p:cNvSpPr/>
          <p:nvPr/>
        </p:nvSpPr>
        <p:spPr>
          <a:xfrm>
            <a:off x="3456432" y="1216152"/>
            <a:ext cx="713232" cy="713232"/>
          </a:xfrm>
          <a:prstGeom prst="ellipse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1"/>
          <p:cNvSpPr/>
          <p:nvPr/>
        </p:nvSpPr>
        <p:spPr>
          <a:xfrm>
            <a:off x="3456432" y="121615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1"/>
          <p:cNvSpPr/>
          <p:nvPr/>
        </p:nvSpPr>
        <p:spPr>
          <a:xfrm>
            <a:off x="2843784" y="2048256"/>
            <a:ext cx="19385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Preprocesamiento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1"/>
          <p:cNvSpPr/>
          <p:nvPr/>
        </p:nvSpPr>
        <p:spPr>
          <a:xfrm>
            <a:off x="2843784" y="2697480"/>
            <a:ext cx="1938528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Segmentacion del objeto, eliminacion de fondo, normalizacion. Tecnologia: OpenCV / rembg / SAM.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1"/>
          <p:cNvSpPr/>
          <p:nvPr/>
        </p:nvSpPr>
        <p:spPr>
          <a:xfrm>
            <a:off x="5056632" y="1078992"/>
            <a:ext cx="2157984" cy="4572000"/>
          </a:xfrm>
          <a:prstGeom prst="rect">
            <a:avLst/>
          </a:prstGeom>
          <a:solidFill>
            <a:srgbClr val="00695C">
              <a:alpha val="87843"/>
            </a:srgbClr>
          </a:solidFill>
          <a:ln cap="flat" cmpd="sng" w="1905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1"/>
          <p:cNvSpPr/>
          <p:nvPr/>
        </p:nvSpPr>
        <p:spPr>
          <a:xfrm>
            <a:off x="5779008" y="1216152"/>
            <a:ext cx="713232" cy="713232"/>
          </a:xfrm>
          <a:prstGeom prst="ellipse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1"/>
          <p:cNvSpPr/>
          <p:nvPr/>
        </p:nvSpPr>
        <p:spPr>
          <a:xfrm>
            <a:off x="5779008" y="121615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1"/>
          <p:cNvSpPr/>
          <p:nvPr/>
        </p:nvSpPr>
        <p:spPr>
          <a:xfrm>
            <a:off x="5166360" y="2048256"/>
            <a:ext cx="19385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Estilizacion 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1"/>
          <p:cNvSpPr/>
          <p:nvPr/>
        </p:nvSpPr>
        <p:spPr>
          <a:xfrm>
            <a:off x="5166360" y="2697480"/>
            <a:ext cx="1938528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difusion (image-to-image): transforma la foto en pictograma de estilo simbolico consistente.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1"/>
          <p:cNvSpPr/>
          <p:nvPr/>
        </p:nvSpPr>
        <p:spPr>
          <a:xfrm>
            <a:off x="7379208" y="1078992"/>
            <a:ext cx="2157984" cy="4572000"/>
          </a:xfrm>
          <a:prstGeom prst="rect">
            <a:avLst/>
          </a:prstGeom>
          <a:solidFill>
            <a:srgbClr val="00695C">
              <a:alpha val="87843"/>
            </a:srgbClr>
          </a:solidFill>
          <a:ln cap="flat" cmpd="sng" w="1905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1"/>
          <p:cNvSpPr/>
          <p:nvPr/>
        </p:nvSpPr>
        <p:spPr>
          <a:xfrm>
            <a:off x="8101584" y="1216152"/>
            <a:ext cx="713232" cy="713232"/>
          </a:xfrm>
          <a:prstGeom prst="ellipse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21"/>
          <p:cNvSpPr/>
          <p:nvPr/>
        </p:nvSpPr>
        <p:spPr>
          <a:xfrm>
            <a:off x="8101584" y="121615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1"/>
          <p:cNvSpPr/>
          <p:nvPr/>
        </p:nvSpPr>
        <p:spPr>
          <a:xfrm>
            <a:off x="7488936" y="2048256"/>
            <a:ext cx="19385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Etiquetado NLP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1"/>
          <p:cNvSpPr/>
          <p:nvPr/>
        </p:nvSpPr>
        <p:spPr>
          <a:xfrm>
            <a:off x="7488936" y="2697480"/>
            <a:ext cx="1938528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Asignacion automatica de etiquetas (categoria, emocion, accion). Vinculacion a vocabulario ARASAAC o propio IPPU.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1"/>
          <p:cNvSpPr/>
          <p:nvPr/>
        </p:nvSpPr>
        <p:spPr>
          <a:xfrm>
            <a:off x="9701784" y="1078992"/>
            <a:ext cx="2157984" cy="4572000"/>
          </a:xfrm>
          <a:prstGeom prst="rect">
            <a:avLst/>
          </a:prstGeom>
          <a:solidFill>
            <a:srgbClr val="004D40">
              <a:alpha val="87843"/>
            </a:srgbClr>
          </a:solidFill>
          <a:ln cap="flat" cmpd="sng" w="19050">
            <a:solidFill>
              <a:srgbClr val="004D4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1"/>
          <p:cNvSpPr/>
          <p:nvPr/>
        </p:nvSpPr>
        <p:spPr>
          <a:xfrm>
            <a:off x="10424160" y="1216152"/>
            <a:ext cx="713232" cy="713232"/>
          </a:xfrm>
          <a:prstGeom prst="ellipse">
            <a:avLst/>
          </a:prstGeom>
          <a:solidFill>
            <a:srgbClr val="004D40"/>
          </a:solidFill>
          <a:ln cap="flat" cmpd="sng" w="12700">
            <a:solidFill>
              <a:srgbClr val="004D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1"/>
          <p:cNvSpPr/>
          <p:nvPr/>
        </p:nvSpPr>
        <p:spPr>
          <a:xfrm>
            <a:off x="10424160" y="1216152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1"/>
          <p:cNvSpPr/>
          <p:nvPr/>
        </p:nvSpPr>
        <p:spPr>
          <a:xfrm>
            <a:off x="9811512" y="2048256"/>
            <a:ext cx="19385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Biblioteca personal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1"/>
          <p:cNvSpPr/>
          <p:nvPr/>
        </p:nvSpPr>
        <p:spPr>
          <a:xfrm>
            <a:off x="9811512" y="2697480"/>
            <a:ext cx="1938528" cy="2697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Pictogramas en perfil del NNA, accesibles desde web/app por tecnico, familia y docente. Sync en la nube.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1"/>
          <p:cNvSpPr/>
          <p:nvPr/>
        </p:nvSpPr>
        <p:spPr>
          <a:xfrm>
            <a:off x="411480" y="5788152"/>
            <a:ext cx="11338560" cy="685800"/>
          </a:xfrm>
          <a:prstGeom prst="rect">
            <a:avLst/>
          </a:prstGeom>
          <a:solidFill>
            <a:srgbClr val="00897B">
              <a:alpha val="12156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1"/>
          <p:cNvSpPr/>
          <p:nvPr/>
        </p:nvSpPr>
        <p:spPr>
          <a:xfrm>
            <a:off x="594360" y="582472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Tecnologias: Python / OpenCV / rembg / Stable Diffusion / DALL-E API / Hugging Face / FastAPI / React Native / PostgreSQL / Firebase Storage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2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2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Referentes internacionales &amp; proyectos activos en curso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2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2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2"/>
          <p:cNvSpPr/>
          <p:nvPr/>
        </p:nvSpPr>
        <p:spPr>
          <a:xfrm>
            <a:off x="411480" y="1078992"/>
            <a:ext cx="3675888" cy="245059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22"/>
          <p:cNvSpPr/>
          <p:nvPr/>
        </p:nvSpPr>
        <p:spPr>
          <a:xfrm>
            <a:off x="411480" y="1078992"/>
            <a:ext cx="3675888" cy="420624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2"/>
          <p:cNvSpPr/>
          <p:nvPr/>
        </p:nvSpPr>
        <p:spPr>
          <a:xfrm>
            <a:off x="539496" y="113385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QuickPic AAC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2"/>
          <p:cNvSpPr/>
          <p:nvPr/>
        </p:nvSpPr>
        <p:spPr>
          <a:xfrm>
            <a:off x="3136392" y="1143000"/>
            <a:ext cx="822960" cy="27432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2"/>
          <p:cNvSpPr/>
          <p:nvPr/>
        </p:nvSpPr>
        <p:spPr>
          <a:xfrm>
            <a:off x="3136392" y="11430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Revisado por pares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2"/>
          <p:cNvSpPr/>
          <p:nvPr/>
        </p:nvSpPr>
        <p:spPr>
          <a:xfrm>
            <a:off x="539496" y="1572768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Fontana De Vargas et al. -- ACM CHI 2024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2"/>
          <p:cNvSpPr/>
          <p:nvPr/>
        </p:nvSpPr>
        <p:spPr>
          <a:xfrm>
            <a:off x="539496" y="1947672"/>
            <a:ext cx="3456432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Primer sistema validado de tableros AAC generados automaticamente a partir de fotografias del entorno del nino.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2"/>
          <p:cNvSpPr/>
          <p:nvPr/>
        </p:nvSpPr>
        <p:spPr>
          <a:xfrm>
            <a:off x="4325112" y="1078992"/>
            <a:ext cx="3675888" cy="245059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2"/>
          <p:cNvSpPr/>
          <p:nvPr/>
        </p:nvSpPr>
        <p:spPr>
          <a:xfrm>
            <a:off x="4325112" y="1078992"/>
            <a:ext cx="3675888" cy="420624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2"/>
          <p:cNvSpPr/>
          <p:nvPr/>
        </p:nvSpPr>
        <p:spPr>
          <a:xfrm>
            <a:off x="4453128" y="113385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AMBRA Platform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2"/>
          <p:cNvSpPr/>
          <p:nvPr/>
        </p:nvSpPr>
        <p:spPr>
          <a:xfrm>
            <a:off x="7050024" y="1143000"/>
            <a:ext cx="822960" cy="27432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2"/>
          <p:cNvSpPr/>
          <p:nvPr/>
        </p:nvSpPr>
        <p:spPr>
          <a:xfrm>
            <a:off x="7050024" y="11430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2"/>
          <p:cNvSpPr/>
          <p:nvPr/>
        </p:nvSpPr>
        <p:spPr>
          <a:xfrm>
            <a:off x="4453128" y="1572768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arXiv, enero 2024 (Open Source)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2"/>
          <p:cNvSpPr/>
          <p:nvPr/>
        </p:nvSpPr>
        <p:spPr>
          <a:xfrm>
            <a:off x="4453128" y="1947672"/>
            <a:ext cx="3456432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Plataforma AAC basada en modelos fundacionales + aprendizaje federado para preservar privacidad de datos clinicos.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2"/>
          <p:cNvSpPr/>
          <p:nvPr/>
        </p:nvSpPr>
        <p:spPr>
          <a:xfrm>
            <a:off x="8238744" y="1078992"/>
            <a:ext cx="3675888" cy="245059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2"/>
          <p:cNvSpPr/>
          <p:nvPr/>
        </p:nvSpPr>
        <p:spPr>
          <a:xfrm>
            <a:off x="8238744" y="1078992"/>
            <a:ext cx="3675888" cy="420624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2"/>
          <p:cNvSpPr/>
          <p:nvPr/>
        </p:nvSpPr>
        <p:spPr>
          <a:xfrm>
            <a:off x="8366760" y="113385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EasyRead Image Gen.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2"/>
          <p:cNvSpPr/>
          <p:nvPr/>
        </p:nvSpPr>
        <p:spPr>
          <a:xfrm>
            <a:off x="10963656" y="1143000"/>
            <a:ext cx="822960" cy="27432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2"/>
          <p:cNvSpPr/>
          <p:nvPr/>
        </p:nvSpPr>
        <p:spPr>
          <a:xfrm>
            <a:off x="10963656" y="11430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2026 -- Vanguardia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2"/>
          <p:cNvSpPr/>
          <p:nvPr/>
        </p:nvSpPr>
        <p:spPr>
          <a:xfrm>
            <a:off x="8366760" y="1572768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ETH Zurich -- CHI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2"/>
          <p:cNvSpPr/>
          <p:nvPr/>
        </p:nvSpPr>
        <p:spPr>
          <a:xfrm>
            <a:off x="8366760" y="1947672"/>
            <a:ext cx="3456432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Fine-tuning ligero en modelos de difusion para generar pictogramas de accesibilidad cognitiva conformes a EasyRead.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2"/>
          <p:cNvSpPr/>
          <p:nvPr/>
        </p:nvSpPr>
        <p:spPr>
          <a:xfrm>
            <a:off x="411480" y="3712464"/>
            <a:ext cx="3675888" cy="245059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2"/>
          <p:cNvSpPr/>
          <p:nvPr/>
        </p:nvSpPr>
        <p:spPr>
          <a:xfrm>
            <a:off x="411480" y="3712464"/>
            <a:ext cx="3675888" cy="420624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2"/>
          <p:cNvSpPr/>
          <p:nvPr/>
        </p:nvSpPr>
        <p:spPr>
          <a:xfrm>
            <a:off x="539496" y="37673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Draffan et al. Pilot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2"/>
          <p:cNvSpPr/>
          <p:nvPr/>
        </p:nvSpPr>
        <p:spPr>
          <a:xfrm>
            <a:off x="3136392" y="3776472"/>
            <a:ext cx="822960" cy="27432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2"/>
          <p:cNvSpPr/>
          <p:nvPr/>
        </p:nvSpPr>
        <p:spPr>
          <a:xfrm>
            <a:off x="3136392" y="3776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Clinico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2"/>
          <p:cNvSpPr/>
          <p:nvPr/>
        </p:nvSpPr>
        <p:spPr>
          <a:xfrm>
            <a:off x="539496" y="4206240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Southampton Univ. -- Stud. Health Inform. 2023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2"/>
          <p:cNvSpPr/>
          <p:nvPr/>
        </p:nvSpPr>
        <p:spPr>
          <a:xfrm>
            <a:off x="539496" y="4581144"/>
            <a:ext cx="3456432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Estudio piloto de 6 meses: adaptacion de simbolos con IA image-to-image, evaluada por stakeholders con alta satisfaccion.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2"/>
          <p:cNvSpPr/>
          <p:nvPr/>
        </p:nvSpPr>
        <p:spPr>
          <a:xfrm>
            <a:off x="4325112" y="3712464"/>
            <a:ext cx="3675888" cy="245059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2"/>
          <p:cNvSpPr/>
          <p:nvPr/>
        </p:nvSpPr>
        <p:spPr>
          <a:xfrm>
            <a:off x="4325112" y="3712464"/>
            <a:ext cx="3675888" cy="420624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2"/>
          <p:cNvSpPr/>
          <p:nvPr/>
        </p:nvSpPr>
        <p:spPr>
          <a:xfrm>
            <a:off x="4453128" y="37673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PicTalky -- NLP + AAC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2"/>
          <p:cNvSpPr/>
          <p:nvPr/>
        </p:nvSpPr>
        <p:spPr>
          <a:xfrm>
            <a:off x="7050024" y="3776472"/>
            <a:ext cx="822960" cy="27432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2"/>
          <p:cNvSpPr/>
          <p:nvPr/>
        </p:nvSpPr>
        <p:spPr>
          <a:xfrm>
            <a:off x="7050024" y="3776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Robotica + AAC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2"/>
          <p:cNvSpPr/>
          <p:nvPr/>
        </p:nvSpPr>
        <p:spPr>
          <a:xfrm>
            <a:off x="4453128" y="4206240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NeurIPS Workshop 2021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2"/>
          <p:cNvSpPr/>
          <p:nvPr/>
        </p:nvSpPr>
        <p:spPr>
          <a:xfrm>
            <a:off x="4453128" y="4581144"/>
            <a:ext cx="3456432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AAC con modulos NLP neurales (correccion gramatical + texto-a-pictograma), aplicado tambien en robot NAO.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2"/>
          <p:cNvSpPr/>
          <p:nvPr/>
        </p:nvSpPr>
        <p:spPr>
          <a:xfrm>
            <a:off x="8238744" y="3712464"/>
            <a:ext cx="3675888" cy="2450592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2"/>
          <p:cNvSpPr/>
          <p:nvPr/>
        </p:nvSpPr>
        <p:spPr>
          <a:xfrm>
            <a:off x="8238744" y="3712464"/>
            <a:ext cx="3675888" cy="420624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2"/>
          <p:cNvSpPr/>
          <p:nvPr/>
        </p:nvSpPr>
        <p:spPr>
          <a:xfrm>
            <a:off x="8366760" y="37673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ARASAAC + IA Generativa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2"/>
          <p:cNvSpPr/>
          <p:nvPr/>
        </p:nvSpPr>
        <p:spPr>
          <a:xfrm>
            <a:off x="10963656" y="3776472"/>
            <a:ext cx="822960" cy="274320"/>
          </a:xfrm>
          <a:prstGeom prst="rect">
            <a:avLst/>
          </a:prstGeom>
          <a:solidFill>
            <a:srgbClr val="00695C"/>
          </a:solidFill>
          <a:ln cap="flat" cmpd="sng" w="12700">
            <a:solidFill>
              <a:srgbClr val="0069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2"/>
          <p:cNvSpPr/>
          <p:nvPr/>
        </p:nvSpPr>
        <p:spPr>
          <a:xfrm>
            <a:off x="10963656" y="377647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Latinoamerica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2"/>
          <p:cNvSpPr/>
          <p:nvPr/>
        </p:nvSpPr>
        <p:spPr>
          <a:xfrm>
            <a:off x="8366760" y="4206240"/>
            <a:ext cx="34564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Univ. Comillas -- TFG 2024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2"/>
          <p:cNvSpPr/>
          <p:nvPr/>
        </p:nvSpPr>
        <p:spPr>
          <a:xfrm>
            <a:off x="8366760" y="4581144"/>
            <a:ext cx="3456432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Investigacion con GANs y Autoencoders para ampliar el banco ARASAAC con variantes culturales rioplatenses.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3"/>
          <p:cNvSpPr/>
          <p:nvPr/>
        </p:nvSpPr>
        <p:spPr>
          <a:xfrm>
            <a:off x="457200" y="16459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L2  --  REFERENCIAS Y RECURSOS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3"/>
          <p:cNvSpPr/>
          <p:nvPr/>
        </p:nvSpPr>
        <p:spPr>
          <a:xfrm>
            <a:off x="457200" y="676656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Pictogramas Personalizados Digitales con IA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3"/>
          <p:cNvSpPr/>
          <p:nvPr/>
        </p:nvSpPr>
        <p:spPr>
          <a:xfrm>
            <a:off x="457200" y="1161288"/>
            <a:ext cx="11247120" cy="36576"/>
          </a:xfrm>
          <a:prstGeom prst="rect">
            <a:avLst/>
          </a:prstGeom>
          <a:solidFill>
            <a:srgbClr val="00897B">
              <a:alpha val="50196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3"/>
          <p:cNvSpPr/>
          <p:nvPr/>
        </p:nvSpPr>
        <p:spPr>
          <a:xfrm>
            <a:off x="502920" y="1325880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00897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3"/>
          <p:cNvSpPr/>
          <p:nvPr/>
        </p:nvSpPr>
        <p:spPr>
          <a:xfrm>
            <a:off x="502920" y="1325880"/>
            <a:ext cx="64008" cy="13716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3"/>
          <p:cNvSpPr/>
          <p:nvPr/>
        </p:nvSpPr>
        <p:spPr>
          <a:xfrm>
            <a:off x="667512" y="1399032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Draffan et al. -- AI Supporting AAC Pictographic Symbol Adaptations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3"/>
          <p:cNvSpPr/>
          <p:nvPr/>
        </p:nvSpPr>
        <p:spPr>
          <a:xfrm>
            <a:off x="667512" y="1801368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Draffan E.A., Wald M. et al. -- Stud. Health Technol. Inform. 2023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3"/>
          <p:cNvSpPr/>
          <p:nvPr/>
        </p:nvSpPr>
        <p:spPr>
          <a:xfrm>
            <a:off x="667512" y="2084832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pubmed.ncbi.nlm.nih.gov/37638918  |  DOI: 10.3233/SHTI230622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3"/>
          <p:cNvSpPr/>
          <p:nvPr/>
        </p:nvSpPr>
        <p:spPr>
          <a:xfrm>
            <a:off x="502920" y="2807208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00897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23"/>
          <p:cNvSpPr/>
          <p:nvPr/>
        </p:nvSpPr>
        <p:spPr>
          <a:xfrm>
            <a:off x="502920" y="2807208"/>
            <a:ext cx="64008" cy="13716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3"/>
          <p:cNvSpPr/>
          <p:nvPr/>
        </p:nvSpPr>
        <p:spPr>
          <a:xfrm>
            <a:off x="667512" y="2880360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Fontana De Vargas et al. -- QuickPic: Photo-to-AAC-Board (ACM CHI 2024)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3"/>
          <p:cNvSpPr/>
          <p:nvPr/>
        </p:nvSpPr>
        <p:spPr>
          <a:xfrm>
            <a:off x="667512" y="3282696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Fontana De Vargas M. et al. -- ACM CHI 2024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3"/>
          <p:cNvSpPr/>
          <p:nvPr/>
        </p:nvSpPr>
        <p:spPr>
          <a:xfrm>
            <a:off x="667512" y="3566160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dl.acm.org/doi/10.1145/3613904.3642080  |  pubmed.ncbi.nlm.nih.gov/39338033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3"/>
          <p:cNvSpPr/>
          <p:nvPr/>
        </p:nvSpPr>
        <p:spPr>
          <a:xfrm>
            <a:off x="502920" y="4288536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00897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3"/>
          <p:cNvSpPr/>
          <p:nvPr/>
        </p:nvSpPr>
        <p:spPr>
          <a:xfrm>
            <a:off x="502920" y="4288536"/>
            <a:ext cx="64008" cy="13716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3"/>
          <p:cNvSpPr/>
          <p:nvPr/>
        </p:nvSpPr>
        <p:spPr>
          <a:xfrm>
            <a:off x="667512" y="436168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EasyRead Image Generation -- ETH Zurich (CHI EA 2026)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3"/>
          <p:cNvSpPr/>
          <p:nvPr/>
        </p:nvSpPr>
        <p:spPr>
          <a:xfrm>
            <a:off x="667512" y="4764024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Dickenmann N. et al. -- CHI EA 2026, Barcelona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3"/>
          <p:cNvSpPr/>
          <p:nvPr/>
        </p:nvSpPr>
        <p:spPr>
          <a:xfrm>
            <a:off x="667512" y="5047488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arxiv.org/abs/2603.13695  |  doi.org/10.1145/3772363.3798916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23"/>
          <p:cNvSpPr/>
          <p:nvPr/>
        </p:nvSpPr>
        <p:spPr>
          <a:xfrm>
            <a:off x="6492240" y="1325880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00897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3"/>
          <p:cNvSpPr/>
          <p:nvPr/>
        </p:nvSpPr>
        <p:spPr>
          <a:xfrm>
            <a:off x="6492240" y="1325880"/>
            <a:ext cx="64008" cy="13716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3"/>
          <p:cNvSpPr/>
          <p:nvPr/>
        </p:nvSpPr>
        <p:spPr>
          <a:xfrm>
            <a:off x="6656832" y="1399032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AMBRA -- Foundation Models in AAC (Open Platform)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3"/>
          <p:cNvSpPr/>
          <p:nvPr/>
        </p:nvSpPr>
        <p:spPr>
          <a:xfrm>
            <a:off x="6656832" y="1801368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arXiv, enero 2024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3"/>
          <p:cNvSpPr/>
          <p:nvPr/>
        </p:nvSpPr>
        <p:spPr>
          <a:xfrm>
            <a:off x="6656832" y="2084832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arxiv.org/abs/2401.08866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3"/>
          <p:cNvSpPr/>
          <p:nvPr/>
        </p:nvSpPr>
        <p:spPr>
          <a:xfrm>
            <a:off x="6492240" y="2807208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00897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3"/>
          <p:cNvSpPr/>
          <p:nvPr/>
        </p:nvSpPr>
        <p:spPr>
          <a:xfrm>
            <a:off x="6492240" y="2807208"/>
            <a:ext cx="64008" cy="13716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23"/>
          <p:cNvSpPr/>
          <p:nvPr/>
        </p:nvSpPr>
        <p:spPr>
          <a:xfrm>
            <a:off x="6656832" y="2880360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PicTalky -- AAC with Neural NLP Modules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3"/>
          <p:cNvSpPr/>
          <p:nvPr/>
        </p:nvSpPr>
        <p:spPr>
          <a:xfrm>
            <a:off x="6656832" y="3282696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NeurIPS Workshop 2021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3"/>
          <p:cNvSpPr/>
          <p:nvPr/>
        </p:nvSpPr>
        <p:spPr>
          <a:xfrm>
            <a:off x="6656832" y="3566160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arxiv.org/abs/2109.12941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3"/>
          <p:cNvSpPr/>
          <p:nvPr/>
        </p:nvSpPr>
        <p:spPr>
          <a:xfrm>
            <a:off x="6492240" y="4288536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00897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3"/>
          <p:cNvSpPr/>
          <p:nvPr/>
        </p:nvSpPr>
        <p:spPr>
          <a:xfrm>
            <a:off x="6492240" y="4288536"/>
            <a:ext cx="64008" cy="1371600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23"/>
          <p:cNvSpPr/>
          <p:nvPr/>
        </p:nvSpPr>
        <p:spPr>
          <a:xfrm>
            <a:off x="6656832" y="436168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ARASAAC -- Portal aragones de comunicacion aumentativa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23"/>
          <p:cNvSpPr/>
          <p:nvPr/>
        </p:nvSpPr>
        <p:spPr>
          <a:xfrm>
            <a:off x="6656832" y="4764024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Gobierno de Aragon / CATEDU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3"/>
          <p:cNvSpPr/>
          <p:nvPr/>
        </p:nvSpPr>
        <p:spPr>
          <a:xfrm>
            <a:off x="6656832" y="5047488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arasaac.org  |  aulaabierta.arasaac.org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4"/>
          <p:cNvSpPr/>
          <p:nvPr/>
        </p:nvSpPr>
        <p:spPr>
          <a:xfrm>
            <a:off x="9052560" y="0"/>
            <a:ext cx="3108960" cy="6858000"/>
          </a:xfrm>
          <a:prstGeom prst="rect">
            <a:avLst/>
          </a:prstGeom>
          <a:solidFill>
            <a:srgbClr val="0D47A1">
              <a:alpha val="30196"/>
            </a:srgbClr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4"/>
          <p:cNvSpPr/>
          <p:nvPr/>
        </p:nvSpPr>
        <p:spPr>
          <a:xfrm>
            <a:off x="685800" y="594360"/>
            <a:ext cx="1234440" cy="1234440"/>
          </a:xfrm>
          <a:prstGeom prst="ellipse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4"/>
          <p:cNvSpPr/>
          <p:nvPr/>
        </p:nvSpPr>
        <p:spPr>
          <a:xfrm>
            <a:off x="685800" y="594360"/>
            <a:ext cx="1234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5" name="Google Shape;965;p24"/>
          <p:cNvPicPr preferRelativeResize="0"/>
          <p:nvPr/>
        </p:nvPicPr>
        <p:blipFill rotWithShape="1">
          <a:blip r:embed="rId3">
            <a:alphaModFix amt="92000"/>
          </a:blip>
          <a:srcRect b="0" l="0" r="0" t="0"/>
          <a:stretch/>
        </p:blipFill>
        <p:spPr>
          <a:xfrm>
            <a:off x="594360" y="21031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24"/>
          <p:cNvSpPr/>
          <p:nvPr/>
        </p:nvSpPr>
        <p:spPr>
          <a:xfrm>
            <a:off x="2423160" y="96012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LINEA DE TRABAJO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4"/>
          <p:cNvSpPr/>
          <p:nvPr/>
        </p:nvSpPr>
        <p:spPr>
          <a:xfrm>
            <a:off x="2423160" y="1508760"/>
            <a:ext cx="8686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Asistente Virtual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TEA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4"/>
          <p:cNvSpPr/>
          <p:nvPr/>
        </p:nvSpPr>
        <p:spPr>
          <a:xfrm>
            <a:off x="2423160" y="374904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Sistema conversacional accesible para tecnicos, familias y docentes --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informacion especializada, orientacion y acompanamiento continuo 24/7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4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0D47A1">
              <a:alpha val="54901"/>
            </a:srgbClr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4"/>
          <p:cNvSpPr/>
          <p:nvPr/>
        </p:nvSpPr>
        <p:spPr>
          <a:xfrm>
            <a:off x="457200" y="6281928"/>
            <a:ext cx="112471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Fundacion IPPU x UTEC -- Licenciatura en Ingenieria de Datos e IA |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5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5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Justificacion + evidencia -- Asistente Virtual para TEA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5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5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5"/>
          <p:cNvSpPr/>
          <p:nvPr/>
        </p:nvSpPr>
        <p:spPr>
          <a:xfrm>
            <a:off x="411480" y="1078992"/>
            <a:ext cx="5623560" cy="10972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5"/>
          <p:cNvSpPr/>
          <p:nvPr/>
        </p:nvSpPr>
        <p:spPr>
          <a:xfrm>
            <a:off x="411480" y="1078992"/>
            <a:ext cx="64008" cy="10972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5"/>
          <p:cNvSpPr/>
          <p:nvPr/>
        </p:nvSpPr>
        <p:spPr>
          <a:xfrm>
            <a:off x="594360" y="1170432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Acceso limitado a informacion confiable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5"/>
          <p:cNvSpPr/>
          <p:nvPr/>
        </p:nvSpPr>
        <p:spPr>
          <a:xfrm>
            <a:off x="594360" y="1554480"/>
            <a:ext cx="5349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Familias buscan orientacion en fuentes no especializadas. La desinformacion sobre TEA es un riesgo clinico real.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5"/>
          <p:cNvSpPr/>
          <p:nvPr/>
        </p:nvSpPr>
        <p:spPr>
          <a:xfrm>
            <a:off x="411480" y="2286000"/>
            <a:ext cx="5623560" cy="10972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5"/>
          <p:cNvSpPr/>
          <p:nvPr/>
        </p:nvSpPr>
        <p:spPr>
          <a:xfrm>
            <a:off x="411480" y="2286000"/>
            <a:ext cx="64008" cy="10972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5"/>
          <p:cNvSpPr/>
          <p:nvPr/>
        </p:nvSpPr>
        <p:spPr>
          <a:xfrm>
            <a:off x="594360" y="2377440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Carga sobre el equipo tecnico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5"/>
          <p:cNvSpPr/>
          <p:nvPr/>
        </p:nvSpPr>
        <p:spPr>
          <a:xfrm>
            <a:off x="594360" y="2761488"/>
            <a:ext cx="5349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Los tecnicos responden preguntas repetitivas que un sistema validado puede atender, liberando tiempo para la intervencion directa.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5"/>
          <p:cNvSpPr/>
          <p:nvPr/>
        </p:nvSpPr>
        <p:spPr>
          <a:xfrm>
            <a:off x="411480" y="3493008"/>
            <a:ext cx="5623560" cy="10972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5"/>
          <p:cNvSpPr/>
          <p:nvPr/>
        </p:nvSpPr>
        <p:spPr>
          <a:xfrm>
            <a:off x="411480" y="3493008"/>
            <a:ext cx="64008" cy="10972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5"/>
          <p:cNvSpPr/>
          <p:nvPr/>
        </p:nvSpPr>
        <p:spPr>
          <a:xfrm>
            <a:off x="594360" y="3584448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Horarios de atencion restringidos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5"/>
          <p:cNvSpPr/>
          <p:nvPr/>
        </p:nvSpPr>
        <p:spPr>
          <a:xfrm>
            <a:off x="594360" y="3968496"/>
            <a:ext cx="5349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Un asistente 24/7 reduce la angustia familiar y mejora la adherencia al tratamiento.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5"/>
          <p:cNvSpPr/>
          <p:nvPr/>
        </p:nvSpPr>
        <p:spPr>
          <a:xfrm>
            <a:off x="411480" y="4700016"/>
            <a:ext cx="5623560" cy="10972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5"/>
          <p:cNvSpPr/>
          <p:nvPr/>
        </p:nvSpPr>
        <p:spPr>
          <a:xfrm>
            <a:off x="411480" y="4700016"/>
            <a:ext cx="64008" cy="10972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5"/>
          <p:cNvSpPr/>
          <p:nvPr/>
        </p:nvSpPr>
        <p:spPr>
          <a:xfrm>
            <a:off x="594360" y="4791456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Brecha de formacion en docentes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5"/>
          <p:cNvSpPr/>
          <p:nvPr/>
        </p:nvSpPr>
        <p:spPr>
          <a:xfrm>
            <a:off x="594360" y="5175504"/>
            <a:ext cx="5349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Los educadores necesitan orientacion practica e inmediata para adaptar el aula. Un chatbot especializado satisface esa demanda en tiempo real.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5"/>
          <p:cNvSpPr/>
          <p:nvPr/>
        </p:nvSpPr>
        <p:spPr>
          <a:xfrm>
            <a:off x="6263640" y="1024128"/>
            <a:ext cx="5532120" cy="539496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25"/>
          <p:cNvSpPr/>
          <p:nvPr/>
        </p:nvSpPr>
        <p:spPr>
          <a:xfrm>
            <a:off x="6492240" y="118872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EVIDENCIA CIENTIFICA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5"/>
          <p:cNvSpPr/>
          <p:nvPr/>
        </p:nvSpPr>
        <p:spPr>
          <a:xfrm>
            <a:off x="6492240" y="1627632"/>
            <a:ext cx="5166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He et al. (2024) -- China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5"/>
          <p:cNvSpPr/>
          <p:nvPr/>
        </p:nvSpPr>
        <p:spPr>
          <a:xfrm>
            <a:off x="6492240" y="2029968"/>
            <a:ext cx="5166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LLM chatbots respondieron con alta precision a 239 consultas de familias y personas autistas sobre diagnostico, rutinas e intervencion.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5"/>
          <p:cNvSpPr/>
          <p:nvPr/>
        </p:nvSpPr>
        <p:spPr>
          <a:xfrm>
            <a:off x="6400800" y="2706624"/>
            <a:ext cx="5257800" cy="27432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25"/>
          <p:cNvSpPr/>
          <p:nvPr/>
        </p:nvSpPr>
        <p:spPr>
          <a:xfrm>
            <a:off x="6492240" y="2770632"/>
            <a:ext cx="5166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ASD-Chat (arXiv 2024) -- LLM + VB-MAPP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5"/>
          <p:cNvSpPr/>
          <p:nvPr/>
        </p:nvSpPr>
        <p:spPr>
          <a:xfrm>
            <a:off x="6492240" y="3172968"/>
            <a:ext cx="5166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Sistema de dialogo para intervencion en ninos con TEA. Supera paradigmas fijos con conversaciones adaptadas y no monotonas.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5"/>
          <p:cNvSpPr/>
          <p:nvPr/>
        </p:nvSpPr>
        <p:spPr>
          <a:xfrm>
            <a:off x="6400800" y="3849624"/>
            <a:ext cx="5257800" cy="27432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5"/>
          <p:cNvSpPr/>
          <p:nvPr/>
        </p:nvSpPr>
        <p:spPr>
          <a:xfrm>
            <a:off x="6492240" y="3913632"/>
            <a:ext cx="5166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Papadopoulos (2025) -- SAGE Journals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5"/>
          <p:cNvSpPr/>
          <p:nvPr/>
        </p:nvSpPr>
        <p:spPr>
          <a:xfrm>
            <a:off x="6492240" y="4315968"/>
            <a:ext cx="5166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Revision cualitativa: chatbots reducen ansiedad social y son percibidos como espacio seguro para ensayo de habilidades comunicativas.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5"/>
          <p:cNvSpPr/>
          <p:nvPr/>
        </p:nvSpPr>
        <p:spPr>
          <a:xfrm>
            <a:off x="6400800" y="4992624"/>
            <a:ext cx="5257800" cy="27432"/>
          </a:xfrm>
          <a:prstGeom prst="rect">
            <a:avLst/>
          </a:prstGeom>
          <a:solidFill>
            <a:srgbClr val="E8EDF2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25"/>
          <p:cNvSpPr/>
          <p:nvPr/>
        </p:nvSpPr>
        <p:spPr>
          <a:xfrm>
            <a:off x="6492240" y="5056632"/>
            <a:ext cx="5166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NCT06723301 -- Ensayo clinico en curso (2024-2026)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5"/>
          <p:cNvSpPr/>
          <p:nvPr/>
        </p:nvSpPr>
        <p:spPr>
          <a:xfrm>
            <a:off x="6492240" y="5458968"/>
            <a:ext cx="5166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Chatbot de entrenamiento en resolucion de problemas para padres de ninos con TEA. Hong Kong Metropolitan University.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26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6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Arquitectura y funcionalidades -- Asistente Virtual IPPU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6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6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6"/>
          <p:cNvSpPr/>
          <p:nvPr/>
        </p:nvSpPr>
        <p:spPr>
          <a:xfrm>
            <a:off x="411480" y="1078992"/>
            <a:ext cx="3675888" cy="5349240"/>
          </a:xfrm>
          <a:prstGeom prst="rect">
            <a:avLst/>
          </a:prstGeom>
          <a:solidFill>
            <a:srgbClr val="1565C0">
              <a:alpha val="87843"/>
            </a:srgbClr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6"/>
          <p:cNvSpPr/>
          <p:nvPr/>
        </p:nvSpPr>
        <p:spPr>
          <a:xfrm>
            <a:off x="411480" y="1078992"/>
            <a:ext cx="3675888" cy="457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6"/>
          <p:cNvSpPr/>
          <p:nvPr/>
        </p:nvSpPr>
        <p:spPr>
          <a:xfrm>
            <a:off x="521208" y="111556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DE USUARIOS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26"/>
          <p:cNvSpPr/>
          <p:nvPr/>
        </p:nvSpPr>
        <p:spPr>
          <a:xfrm>
            <a:off x="576072" y="1691640"/>
            <a:ext cx="3328416" cy="1389888"/>
          </a:xfrm>
          <a:prstGeom prst="rect">
            <a:avLst/>
          </a:prstGeom>
          <a:solidFill>
            <a:srgbClr val="071428">
              <a:alpha val="80000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6"/>
          <p:cNvSpPr/>
          <p:nvPr/>
        </p:nvSpPr>
        <p:spPr>
          <a:xfrm>
            <a:off x="685800" y="178308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Tecnicos IPPU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6"/>
          <p:cNvSpPr/>
          <p:nvPr/>
        </p:nvSpPr>
        <p:spPr>
          <a:xfrm>
            <a:off x="685800" y="2203704"/>
            <a:ext cx="31272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Consulta de protocolos, guias de intervencion y busqueda en HCE.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6"/>
          <p:cNvSpPr/>
          <p:nvPr/>
        </p:nvSpPr>
        <p:spPr>
          <a:xfrm>
            <a:off x="576072" y="3200400"/>
            <a:ext cx="3328416" cy="1389888"/>
          </a:xfrm>
          <a:prstGeom prst="rect">
            <a:avLst/>
          </a:prstGeom>
          <a:solidFill>
            <a:srgbClr val="071428">
              <a:alpha val="80000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6"/>
          <p:cNvSpPr/>
          <p:nvPr/>
        </p:nvSpPr>
        <p:spPr>
          <a:xfrm>
            <a:off x="685800" y="329184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Familias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6"/>
          <p:cNvSpPr/>
          <p:nvPr/>
        </p:nvSpPr>
        <p:spPr>
          <a:xfrm>
            <a:off x="685800" y="3712464"/>
            <a:ext cx="31272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Orientacion sobre rutinas, estrategias en casa, escalacion a tecnico.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26"/>
          <p:cNvSpPr/>
          <p:nvPr/>
        </p:nvSpPr>
        <p:spPr>
          <a:xfrm>
            <a:off x="576072" y="4709160"/>
            <a:ext cx="3328416" cy="1389888"/>
          </a:xfrm>
          <a:prstGeom prst="rect">
            <a:avLst/>
          </a:prstGeom>
          <a:solidFill>
            <a:srgbClr val="071428">
              <a:alpha val="80000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6"/>
          <p:cNvSpPr/>
          <p:nvPr/>
        </p:nvSpPr>
        <p:spPr>
          <a:xfrm>
            <a:off x="685800" y="480060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Docentes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6"/>
          <p:cNvSpPr/>
          <p:nvPr/>
        </p:nvSpPr>
        <p:spPr>
          <a:xfrm>
            <a:off x="685800" y="5221224"/>
            <a:ext cx="31272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Adaptaciones curriculares, manejo de crisis, recursos visuales.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6"/>
          <p:cNvSpPr/>
          <p:nvPr/>
        </p:nvSpPr>
        <p:spPr>
          <a:xfrm>
            <a:off x="4315968" y="1078992"/>
            <a:ext cx="3675888" cy="5349240"/>
          </a:xfrm>
          <a:prstGeom prst="rect">
            <a:avLst/>
          </a:prstGeom>
          <a:solidFill>
            <a:srgbClr val="0D47A1">
              <a:alpha val="87843"/>
            </a:srgbClr>
          </a:solidFill>
          <a:ln cap="flat" cmpd="sng" w="1905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6"/>
          <p:cNvSpPr/>
          <p:nvPr/>
        </p:nvSpPr>
        <p:spPr>
          <a:xfrm>
            <a:off x="4315968" y="1078992"/>
            <a:ext cx="3675888" cy="45720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26"/>
          <p:cNvSpPr/>
          <p:nvPr/>
        </p:nvSpPr>
        <p:spPr>
          <a:xfrm>
            <a:off x="4425696" y="111556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DE PROCESAMIENTO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6"/>
          <p:cNvSpPr/>
          <p:nvPr/>
        </p:nvSpPr>
        <p:spPr>
          <a:xfrm>
            <a:off x="4480560" y="1691640"/>
            <a:ext cx="3328416" cy="1389888"/>
          </a:xfrm>
          <a:prstGeom prst="rect">
            <a:avLst/>
          </a:prstGeom>
          <a:solidFill>
            <a:srgbClr val="071428">
              <a:alpha val="80000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6"/>
          <p:cNvSpPr/>
          <p:nvPr/>
        </p:nvSpPr>
        <p:spPr>
          <a:xfrm>
            <a:off x="4590288" y="178308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Base (Claude / GPT-4 API)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26"/>
          <p:cNvSpPr/>
          <p:nvPr/>
        </p:nvSpPr>
        <p:spPr>
          <a:xfrm>
            <a:off x="4590288" y="2203704"/>
            <a:ext cx="31272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Modelo de lenguaje para comprension y generacion de respuestas naturales.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6"/>
          <p:cNvSpPr/>
          <p:nvPr/>
        </p:nvSpPr>
        <p:spPr>
          <a:xfrm>
            <a:off x="4480560" y="3200400"/>
            <a:ext cx="3328416" cy="1389888"/>
          </a:xfrm>
          <a:prstGeom prst="rect">
            <a:avLst/>
          </a:prstGeom>
          <a:solidFill>
            <a:srgbClr val="071428">
              <a:alpha val="80000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6"/>
          <p:cNvSpPr/>
          <p:nvPr/>
        </p:nvSpPr>
        <p:spPr>
          <a:xfrm>
            <a:off x="4590288" y="329184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-- Recuperacion aumentada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6"/>
          <p:cNvSpPr/>
          <p:nvPr/>
        </p:nvSpPr>
        <p:spPr>
          <a:xfrm>
            <a:off x="4590288" y="3712464"/>
            <a:ext cx="31272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Base de conocimiento institucional IPPU + literatura TEA indexada.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6"/>
          <p:cNvSpPr/>
          <p:nvPr/>
        </p:nvSpPr>
        <p:spPr>
          <a:xfrm>
            <a:off x="4480560" y="4709160"/>
            <a:ext cx="3328416" cy="1389888"/>
          </a:xfrm>
          <a:prstGeom prst="rect">
            <a:avLst/>
          </a:prstGeom>
          <a:solidFill>
            <a:srgbClr val="071428">
              <a:alpha val="80000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6"/>
          <p:cNvSpPr/>
          <p:nvPr/>
        </p:nvSpPr>
        <p:spPr>
          <a:xfrm>
            <a:off x="4590288" y="480060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Guardrails clinicos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6"/>
          <p:cNvSpPr/>
          <p:nvPr/>
        </p:nvSpPr>
        <p:spPr>
          <a:xfrm>
            <a:off x="4590288" y="5221224"/>
            <a:ext cx="31272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Filtros que detectan crisis y escalan al equipo humano.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6"/>
          <p:cNvSpPr/>
          <p:nvPr/>
        </p:nvSpPr>
        <p:spPr>
          <a:xfrm>
            <a:off x="8220456" y="1078992"/>
            <a:ext cx="3675888" cy="5349240"/>
          </a:xfrm>
          <a:prstGeom prst="rect">
            <a:avLst/>
          </a:prstGeom>
          <a:solidFill>
            <a:srgbClr val="0D47A1">
              <a:alpha val="87843"/>
            </a:srgbClr>
          </a:solidFill>
          <a:ln cap="flat" cmpd="sng" w="1905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6"/>
          <p:cNvSpPr/>
          <p:nvPr/>
        </p:nvSpPr>
        <p:spPr>
          <a:xfrm>
            <a:off x="8220456" y="1078992"/>
            <a:ext cx="3675888" cy="45720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6"/>
          <p:cNvSpPr/>
          <p:nvPr/>
        </p:nvSpPr>
        <p:spPr>
          <a:xfrm>
            <a:off x="8330184" y="1115568"/>
            <a:ext cx="3456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CAPA DE DATOS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6"/>
          <p:cNvSpPr/>
          <p:nvPr/>
        </p:nvSpPr>
        <p:spPr>
          <a:xfrm>
            <a:off x="8385048" y="1691640"/>
            <a:ext cx="3328416" cy="1389888"/>
          </a:xfrm>
          <a:prstGeom prst="rect">
            <a:avLst/>
          </a:prstGeom>
          <a:solidFill>
            <a:srgbClr val="071428">
              <a:alpha val="80000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6"/>
          <p:cNvSpPr/>
          <p:nvPr/>
        </p:nvSpPr>
        <p:spPr>
          <a:xfrm>
            <a:off x="8494776" y="178308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conocimiento IPPU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6"/>
          <p:cNvSpPr/>
          <p:nvPr/>
        </p:nvSpPr>
        <p:spPr>
          <a:xfrm>
            <a:off x="8494776" y="2203704"/>
            <a:ext cx="31272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Protocolos, guias, FAQs validados por el equipo clinico.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6"/>
          <p:cNvSpPr/>
          <p:nvPr/>
        </p:nvSpPr>
        <p:spPr>
          <a:xfrm>
            <a:off x="8385048" y="3200400"/>
            <a:ext cx="3328416" cy="1389888"/>
          </a:xfrm>
          <a:prstGeom prst="rect">
            <a:avLst/>
          </a:prstGeom>
          <a:solidFill>
            <a:srgbClr val="071428">
              <a:alpha val="80000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26"/>
          <p:cNvSpPr/>
          <p:nvPr/>
        </p:nvSpPr>
        <p:spPr>
          <a:xfrm>
            <a:off x="8494776" y="329184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Corpus TEA espanol rioplatense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6"/>
          <p:cNvSpPr/>
          <p:nvPr/>
        </p:nvSpPr>
        <p:spPr>
          <a:xfrm>
            <a:off x="8494776" y="3712464"/>
            <a:ext cx="31272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Literatura adaptada localmente al contexto uruguayo.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6"/>
          <p:cNvSpPr/>
          <p:nvPr/>
        </p:nvSpPr>
        <p:spPr>
          <a:xfrm>
            <a:off x="8385048" y="4709160"/>
            <a:ext cx="3328416" cy="1389888"/>
          </a:xfrm>
          <a:prstGeom prst="rect">
            <a:avLst/>
          </a:prstGeom>
          <a:solidFill>
            <a:srgbClr val="071428">
              <a:alpha val="80000"/>
            </a:srgbClr>
          </a:solidFill>
          <a:ln cap="flat" cmpd="sng" w="12700">
            <a:solidFill>
              <a:srgbClr val="FFFFFF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6"/>
          <p:cNvSpPr/>
          <p:nvPr/>
        </p:nvSpPr>
        <p:spPr>
          <a:xfrm>
            <a:off x="8494776" y="4800600"/>
            <a:ext cx="3127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Feedback loop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6"/>
          <p:cNvSpPr/>
          <p:nvPr/>
        </p:nvSpPr>
        <p:spPr>
          <a:xfrm>
            <a:off x="8494776" y="5221224"/>
            <a:ext cx="312724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Interacciones anonimizadas mejoran el sistema continuamente.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7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27"/>
          <p:cNvSpPr/>
          <p:nvPr/>
        </p:nvSpPr>
        <p:spPr>
          <a:xfrm>
            <a:off x="457200" y="16459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L3  --  REFERENCIAS Y RECURSOS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7"/>
          <p:cNvSpPr/>
          <p:nvPr/>
        </p:nvSpPr>
        <p:spPr>
          <a:xfrm>
            <a:off x="457200" y="676656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Asistente Virtual para TEA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7"/>
          <p:cNvSpPr/>
          <p:nvPr/>
        </p:nvSpPr>
        <p:spPr>
          <a:xfrm>
            <a:off x="457200" y="1161288"/>
            <a:ext cx="11247120" cy="36576"/>
          </a:xfrm>
          <a:prstGeom prst="rect">
            <a:avLst/>
          </a:prstGeom>
          <a:solidFill>
            <a:srgbClr val="1565C0">
              <a:alpha val="50196"/>
            </a:srgbClr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7"/>
          <p:cNvSpPr/>
          <p:nvPr/>
        </p:nvSpPr>
        <p:spPr>
          <a:xfrm>
            <a:off x="502920" y="1325880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1565C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7"/>
          <p:cNvSpPr/>
          <p:nvPr/>
        </p:nvSpPr>
        <p:spPr>
          <a:xfrm>
            <a:off x="502920" y="1325880"/>
            <a:ext cx="64008" cy="1371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7"/>
          <p:cNvSpPr/>
          <p:nvPr/>
        </p:nvSpPr>
        <p:spPr>
          <a:xfrm>
            <a:off x="667512" y="1399032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 et al. -- LLM Chatbots for ASD-related Questions (2024)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7"/>
          <p:cNvSpPr/>
          <p:nvPr/>
        </p:nvSpPr>
        <p:spPr>
          <a:xfrm>
            <a:off x="667512" y="1801368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He et al. -- Frontiers in Psychiatry, 2025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7"/>
          <p:cNvSpPr/>
          <p:nvPr/>
        </p:nvSpPr>
        <p:spPr>
          <a:xfrm>
            <a:off x="667512" y="2084832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frontiersin.org/journals/psychiatry/articles/10.3389/fpsyt.2025.1628216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7"/>
          <p:cNvSpPr/>
          <p:nvPr/>
        </p:nvSpPr>
        <p:spPr>
          <a:xfrm>
            <a:off x="502920" y="2807208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1565C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7"/>
          <p:cNvSpPr/>
          <p:nvPr/>
        </p:nvSpPr>
        <p:spPr>
          <a:xfrm>
            <a:off x="502920" y="2807208"/>
            <a:ext cx="64008" cy="1371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7"/>
          <p:cNvSpPr/>
          <p:nvPr/>
        </p:nvSpPr>
        <p:spPr>
          <a:xfrm>
            <a:off x="667512" y="2880360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ASD-Chat -- Dialogue Intervention for ASD with LLM + VB-MAPP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7"/>
          <p:cNvSpPr/>
          <p:nvPr/>
        </p:nvSpPr>
        <p:spPr>
          <a:xfrm>
            <a:off x="667512" y="3282696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arXiv, 2024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7"/>
          <p:cNvSpPr/>
          <p:nvPr/>
        </p:nvSpPr>
        <p:spPr>
          <a:xfrm>
            <a:off x="667512" y="3566160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arxiv.org/abs/2409.01867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7"/>
          <p:cNvSpPr/>
          <p:nvPr/>
        </p:nvSpPr>
        <p:spPr>
          <a:xfrm>
            <a:off x="502920" y="4288536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1565C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27"/>
          <p:cNvSpPr/>
          <p:nvPr/>
        </p:nvSpPr>
        <p:spPr>
          <a:xfrm>
            <a:off x="502920" y="4288536"/>
            <a:ext cx="64008" cy="1371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7"/>
          <p:cNvSpPr/>
          <p:nvPr/>
        </p:nvSpPr>
        <p:spPr>
          <a:xfrm>
            <a:off x="667512" y="436168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Papadopoulos -- AI Chatbots for Autistic People (2025)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7"/>
          <p:cNvSpPr/>
          <p:nvPr/>
        </p:nvSpPr>
        <p:spPr>
          <a:xfrm>
            <a:off x="667512" y="4764024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Chris Papadopoulos -- SAGE Journals, 2025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27"/>
          <p:cNvSpPr/>
          <p:nvPr/>
        </p:nvSpPr>
        <p:spPr>
          <a:xfrm>
            <a:off x="667512" y="5047488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journals.sagepub.com/doi/10.1177/27546330251370657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7"/>
          <p:cNvSpPr/>
          <p:nvPr/>
        </p:nvSpPr>
        <p:spPr>
          <a:xfrm>
            <a:off x="6492240" y="1325880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1565C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27"/>
          <p:cNvSpPr/>
          <p:nvPr/>
        </p:nvSpPr>
        <p:spPr>
          <a:xfrm>
            <a:off x="6492240" y="1325880"/>
            <a:ext cx="64008" cy="1371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7"/>
          <p:cNvSpPr/>
          <p:nvPr/>
        </p:nvSpPr>
        <p:spPr>
          <a:xfrm>
            <a:off x="6656832" y="1399032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NCT06723301 -- Chatbot for Parents of Children with ASD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27"/>
          <p:cNvSpPr/>
          <p:nvPr/>
        </p:nvSpPr>
        <p:spPr>
          <a:xfrm>
            <a:off x="6656832" y="1801368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Hong Kong Metropolitan University -- en curso 2024-2026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7"/>
          <p:cNvSpPr/>
          <p:nvPr/>
        </p:nvSpPr>
        <p:spPr>
          <a:xfrm>
            <a:off x="6656832" y="2084832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clinicaltrials.gov/study/NCT06723301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7"/>
          <p:cNvSpPr/>
          <p:nvPr/>
        </p:nvSpPr>
        <p:spPr>
          <a:xfrm>
            <a:off x="6492240" y="2807208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1565C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7"/>
          <p:cNvSpPr/>
          <p:nvPr/>
        </p:nvSpPr>
        <p:spPr>
          <a:xfrm>
            <a:off x="6492240" y="2807208"/>
            <a:ext cx="64008" cy="1371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7"/>
          <p:cNvSpPr/>
          <p:nvPr/>
        </p:nvSpPr>
        <p:spPr>
          <a:xfrm>
            <a:off x="6656832" y="2880360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Breaking Barriers -- AI &amp; Assistive Technology in Autism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7"/>
          <p:cNvSpPr/>
          <p:nvPr/>
        </p:nvSpPr>
        <p:spPr>
          <a:xfrm>
            <a:off x="6656832" y="3282696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PMC, 2024 -- MDPI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27"/>
          <p:cNvSpPr/>
          <p:nvPr/>
        </p:nvSpPr>
        <p:spPr>
          <a:xfrm>
            <a:off x="6656832" y="3566160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pmc.ncbi.nlm.nih.gov/articles/PMC10817661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7"/>
          <p:cNvSpPr/>
          <p:nvPr/>
        </p:nvSpPr>
        <p:spPr>
          <a:xfrm>
            <a:off x="6492240" y="4288536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1565C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7"/>
          <p:cNvSpPr/>
          <p:nvPr/>
        </p:nvSpPr>
        <p:spPr>
          <a:xfrm>
            <a:off x="6492240" y="4288536"/>
            <a:ext cx="64008" cy="13716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7"/>
          <p:cNvSpPr/>
          <p:nvPr/>
        </p:nvSpPr>
        <p:spPr>
          <a:xfrm>
            <a:off x="6656832" y="436168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 Robot + ChatGPT to Improve Cognitive Functioning in ASD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7"/>
          <p:cNvSpPr/>
          <p:nvPr/>
        </p:nvSpPr>
        <p:spPr>
          <a:xfrm>
            <a:off x="6656832" y="4764024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PMC, 2023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7"/>
          <p:cNvSpPr/>
          <p:nvPr/>
        </p:nvSpPr>
        <p:spPr>
          <a:xfrm>
            <a:off x="6656832" y="5047488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ncbi.nlm.nih.gov/pmc/articles/PMC10585023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28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8"/>
          <p:cNvSpPr/>
          <p:nvPr/>
        </p:nvSpPr>
        <p:spPr>
          <a:xfrm>
            <a:off x="9052560" y="0"/>
            <a:ext cx="3108960" cy="6858000"/>
          </a:xfrm>
          <a:prstGeom prst="rect">
            <a:avLst/>
          </a:prstGeom>
          <a:solidFill>
            <a:srgbClr val="4A148C">
              <a:alpha val="30196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8"/>
          <p:cNvSpPr/>
          <p:nvPr/>
        </p:nvSpPr>
        <p:spPr>
          <a:xfrm>
            <a:off x="685800" y="594360"/>
            <a:ext cx="1234440" cy="1234440"/>
          </a:xfrm>
          <a:prstGeom prst="ellipse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8"/>
          <p:cNvSpPr/>
          <p:nvPr/>
        </p:nvSpPr>
        <p:spPr>
          <a:xfrm>
            <a:off x="685800" y="594360"/>
            <a:ext cx="12344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5" name="Google Shape;1105;p28"/>
          <p:cNvPicPr preferRelativeResize="0"/>
          <p:nvPr/>
        </p:nvPicPr>
        <p:blipFill rotWithShape="1">
          <a:blip r:embed="rId3">
            <a:alphaModFix amt="92000"/>
          </a:blip>
          <a:srcRect b="0" l="0" r="0" t="0"/>
          <a:stretch/>
        </p:blipFill>
        <p:spPr>
          <a:xfrm>
            <a:off x="594360" y="210312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28"/>
          <p:cNvSpPr/>
          <p:nvPr/>
        </p:nvSpPr>
        <p:spPr>
          <a:xfrm>
            <a:off x="2423160" y="960120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LINEA DE TRABAJO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8"/>
          <p:cNvSpPr/>
          <p:nvPr/>
        </p:nvSpPr>
        <p:spPr>
          <a:xfrm>
            <a:off x="2423160" y="1508760"/>
            <a:ext cx="8686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Patrones de Visualizacion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Ninos con TEA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8"/>
          <p:cNvSpPr/>
          <p:nvPr/>
        </p:nvSpPr>
        <p:spPr>
          <a:xfrm>
            <a:off x="2423160" y="374904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Analisis de datos multimodales para detectar, comprender y visualizar patrones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conductuales, comunicativos y sensoriales de los NNA en contexto institucional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8"/>
          <p:cNvSpPr/>
          <p:nvPr/>
        </p:nvSpPr>
        <p:spPr>
          <a:xfrm>
            <a:off x="0" y="6263640"/>
            <a:ext cx="12161520" cy="594360"/>
          </a:xfrm>
          <a:prstGeom prst="rect">
            <a:avLst/>
          </a:prstGeom>
          <a:solidFill>
            <a:srgbClr val="4A148C">
              <a:alpha val="54901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28"/>
          <p:cNvSpPr/>
          <p:nvPr/>
        </p:nvSpPr>
        <p:spPr>
          <a:xfrm>
            <a:off x="457200" y="6281928"/>
            <a:ext cx="112471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Fundacion IPPU x UTEC -- Licenciatura en Ingenieria de Datos e IA |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9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9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Marco conceptual + estado del arte -- Patrones de Visualizacion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9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29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9"/>
          <p:cNvSpPr/>
          <p:nvPr/>
        </p:nvSpPr>
        <p:spPr>
          <a:xfrm>
            <a:off x="411480" y="1078992"/>
            <a:ext cx="11338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Los patrones de visualizacion son representaciones graficas y analiticas de datos del NNA que permiten identificar regularidades, progresos y areas de intervencion prioritaria.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9"/>
          <p:cNvSpPr/>
          <p:nvPr/>
        </p:nvSpPr>
        <p:spPr>
          <a:xfrm>
            <a:off x="411480" y="1828800"/>
            <a:ext cx="5577840" cy="2121408"/>
          </a:xfrm>
          <a:prstGeom prst="rect">
            <a:avLst/>
          </a:prstGeom>
          <a:solidFill>
            <a:srgbClr val="6A1B9A">
              <a:alpha val="87843"/>
            </a:srgbClr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9"/>
          <p:cNvSpPr/>
          <p:nvPr/>
        </p:nvSpPr>
        <p:spPr>
          <a:xfrm>
            <a:off x="411480" y="1828800"/>
            <a:ext cx="5577840" cy="420624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9"/>
          <p:cNvSpPr/>
          <p:nvPr/>
        </p:nvSpPr>
        <p:spPr>
          <a:xfrm>
            <a:off x="548640" y="1883664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Patrones conductuales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9"/>
          <p:cNvSpPr/>
          <p:nvPr/>
        </p:nvSpPr>
        <p:spPr>
          <a:xfrm>
            <a:off x="594360" y="23774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9"/>
          <p:cNvSpPr/>
          <p:nvPr/>
        </p:nvSpPr>
        <p:spPr>
          <a:xfrm>
            <a:off x="813816" y="234086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Frecuencia e intensidad de conductas objetivo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9"/>
          <p:cNvSpPr/>
          <p:nvPr/>
        </p:nvSpPr>
        <p:spPr>
          <a:xfrm>
            <a:off x="594360" y="274320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29"/>
          <p:cNvSpPr/>
          <p:nvPr/>
        </p:nvSpPr>
        <p:spPr>
          <a:xfrm>
            <a:off x="813816" y="270662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Analisis ABC (antecedentes y consecuentes)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9"/>
          <p:cNvSpPr/>
          <p:nvPr/>
        </p:nvSpPr>
        <p:spPr>
          <a:xfrm>
            <a:off x="594360" y="310896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29"/>
          <p:cNvSpPr/>
          <p:nvPr/>
        </p:nvSpPr>
        <p:spPr>
          <a:xfrm>
            <a:off x="813816" y="307238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Lineas base y curvas de aprendizaje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9"/>
          <p:cNvSpPr/>
          <p:nvPr/>
        </p:nvSpPr>
        <p:spPr>
          <a:xfrm>
            <a:off x="594360" y="347472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9"/>
          <p:cNvSpPr/>
          <p:nvPr/>
        </p:nvSpPr>
        <p:spPr>
          <a:xfrm>
            <a:off x="813816" y="343814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Correlacion con variables ambientales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9"/>
          <p:cNvSpPr/>
          <p:nvPr/>
        </p:nvSpPr>
        <p:spPr>
          <a:xfrm>
            <a:off x="6309360" y="1828800"/>
            <a:ext cx="5577840" cy="2121408"/>
          </a:xfrm>
          <a:prstGeom prst="rect">
            <a:avLst/>
          </a:prstGeom>
          <a:solidFill>
            <a:srgbClr val="6A1B9A">
              <a:alpha val="87843"/>
            </a:srgbClr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9"/>
          <p:cNvSpPr/>
          <p:nvPr/>
        </p:nvSpPr>
        <p:spPr>
          <a:xfrm>
            <a:off x="6309360" y="1828800"/>
            <a:ext cx="5577840" cy="420624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29"/>
          <p:cNvSpPr/>
          <p:nvPr/>
        </p:nvSpPr>
        <p:spPr>
          <a:xfrm>
            <a:off x="6446520" y="1883664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Patrones comunicativos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9"/>
          <p:cNvSpPr/>
          <p:nvPr/>
        </p:nvSpPr>
        <p:spPr>
          <a:xfrm>
            <a:off x="6492240" y="23774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9"/>
          <p:cNvSpPr/>
          <p:nvPr/>
        </p:nvSpPr>
        <p:spPr>
          <a:xfrm>
            <a:off x="6711696" y="234086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Uso de pictogramas / dispositivos AAC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9"/>
          <p:cNvSpPr/>
          <p:nvPr/>
        </p:nvSpPr>
        <p:spPr>
          <a:xfrm>
            <a:off x="6492240" y="274320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29"/>
          <p:cNvSpPr/>
          <p:nvPr/>
        </p:nvSpPr>
        <p:spPr>
          <a:xfrm>
            <a:off x="6711696" y="270662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Frecuencia de iniciativas comunicativas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9"/>
          <p:cNvSpPr/>
          <p:nvPr/>
        </p:nvSpPr>
        <p:spPr>
          <a:xfrm>
            <a:off x="6492240" y="310896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9"/>
          <p:cNvSpPr/>
          <p:nvPr/>
        </p:nvSpPr>
        <p:spPr>
          <a:xfrm>
            <a:off x="6711696" y="307238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Modalidades: verbal, gestual, pictografica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9"/>
          <p:cNvSpPr/>
          <p:nvPr/>
        </p:nvSpPr>
        <p:spPr>
          <a:xfrm>
            <a:off x="6492240" y="347472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29"/>
          <p:cNvSpPr/>
          <p:nvPr/>
        </p:nvSpPr>
        <p:spPr>
          <a:xfrm>
            <a:off x="6711696" y="343814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Progresion en complejidad de emisiones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9"/>
          <p:cNvSpPr/>
          <p:nvPr/>
        </p:nvSpPr>
        <p:spPr>
          <a:xfrm>
            <a:off x="411480" y="4114800"/>
            <a:ext cx="5577840" cy="2121408"/>
          </a:xfrm>
          <a:prstGeom prst="rect">
            <a:avLst/>
          </a:prstGeom>
          <a:solidFill>
            <a:srgbClr val="4A148C">
              <a:alpha val="87843"/>
            </a:srgbClr>
          </a:solidFill>
          <a:ln cap="flat" cmpd="sng" w="1905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9"/>
          <p:cNvSpPr/>
          <p:nvPr/>
        </p:nvSpPr>
        <p:spPr>
          <a:xfrm>
            <a:off x="411480" y="4114800"/>
            <a:ext cx="5577840" cy="420624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9"/>
          <p:cNvSpPr/>
          <p:nvPr/>
        </p:nvSpPr>
        <p:spPr>
          <a:xfrm>
            <a:off x="548640" y="4169664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Patrones sensoriales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9"/>
          <p:cNvSpPr/>
          <p:nvPr/>
        </p:nvSpPr>
        <p:spPr>
          <a:xfrm>
            <a:off x="594360" y="46634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9"/>
          <p:cNvSpPr/>
          <p:nvPr/>
        </p:nvSpPr>
        <p:spPr>
          <a:xfrm>
            <a:off x="813816" y="462686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Respuestas a estimulos (auditivo, tactil, visual)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9"/>
          <p:cNvSpPr/>
          <p:nvPr/>
        </p:nvSpPr>
        <p:spPr>
          <a:xfrm>
            <a:off x="594360" y="502920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9"/>
          <p:cNvSpPr/>
          <p:nvPr/>
        </p:nvSpPr>
        <p:spPr>
          <a:xfrm>
            <a:off x="813816" y="499262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Correlacion conducta-contexto sensorial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9"/>
          <p:cNvSpPr/>
          <p:nvPr/>
        </p:nvSpPr>
        <p:spPr>
          <a:xfrm>
            <a:off x="594360" y="539496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9"/>
          <p:cNvSpPr/>
          <p:nvPr/>
        </p:nvSpPr>
        <p:spPr>
          <a:xfrm>
            <a:off x="813816" y="535838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Identificacion de detonantes de crisis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9"/>
          <p:cNvSpPr/>
          <p:nvPr/>
        </p:nvSpPr>
        <p:spPr>
          <a:xfrm>
            <a:off x="594360" y="576072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9"/>
          <p:cNvSpPr/>
          <p:nvPr/>
        </p:nvSpPr>
        <p:spPr>
          <a:xfrm>
            <a:off x="813816" y="572414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Perfiles sensoriales longitudinales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9"/>
          <p:cNvSpPr/>
          <p:nvPr/>
        </p:nvSpPr>
        <p:spPr>
          <a:xfrm>
            <a:off x="6309360" y="4114800"/>
            <a:ext cx="5577840" cy="2121408"/>
          </a:xfrm>
          <a:prstGeom prst="rect">
            <a:avLst/>
          </a:prstGeom>
          <a:solidFill>
            <a:srgbClr val="4A148C">
              <a:alpha val="87843"/>
            </a:srgbClr>
          </a:solidFill>
          <a:ln cap="flat" cmpd="sng" w="1905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9"/>
          <p:cNvSpPr/>
          <p:nvPr/>
        </p:nvSpPr>
        <p:spPr>
          <a:xfrm>
            <a:off x="6309360" y="4114800"/>
            <a:ext cx="5577840" cy="420624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9"/>
          <p:cNvSpPr/>
          <p:nvPr/>
        </p:nvSpPr>
        <p:spPr>
          <a:xfrm>
            <a:off x="6446520" y="4169664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Patrones de progreso terapeutico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9"/>
          <p:cNvSpPr/>
          <p:nvPr/>
        </p:nvSpPr>
        <p:spPr>
          <a:xfrm>
            <a:off x="6492240" y="466344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9"/>
          <p:cNvSpPr/>
          <p:nvPr/>
        </p:nvSpPr>
        <p:spPr>
          <a:xfrm>
            <a:off x="6711696" y="462686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Evolucion en escalas IDEA (dim. Riviere)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9"/>
          <p:cNvSpPr/>
          <p:nvPr/>
        </p:nvSpPr>
        <p:spPr>
          <a:xfrm>
            <a:off x="6492240" y="502920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9"/>
          <p:cNvSpPr/>
          <p:nvPr/>
        </p:nvSpPr>
        <p:spPr>
          <a:xfrm>
            <a:off x="6711696" y="499262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Eficacia de los 18 talleres IPPU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9"/>
          <p:cNvSpPr/>
          <p:nvPr/>
        </p:nvSpPr>
        <p:spPr>
          <a:xfrm>
            <a:off x="6492240" y="539496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9"/>
          <p:cNvSpPr/>
          <p:nvPr/>
        </p:nvSpPr>
        <p:spPr>
          <a:xfrm>
            <a:off x="6711696" y="535838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Comparativa entre periodos de evaluacion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9"/>
          <p:cNvSpPr/>
          <p:nvPr/>
        </p:nvSpPr>
        <p:spPr>
          <a:xfrm>
            <a:off x="6492240" y="5760720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9"/>
          <p:cNvSpPr/>
          <p:nvPr/>
        </p:nvSpPr>
        <p:spPr>
          <a:xfrm>
            <a:off x="6711696" y="572414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Indicadores del Plan Anual institucional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3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30"/>
          <p:cNvSpPr/>
          <p:nvPr/>
        </p:nvSpPr>
        <p:spPr>
          <a:xfrm>
            <a:off x="411480" y="146304"/>
            <a:ext cx="11338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Pipeline de datos + visualizaciones propuestas para IPPU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30"/>
          <p:cNvSpPr/>
          <p:nvPr/>
        </p:nvSpPr>
        <p:spPr>
          <a:xfrm>
            <a:off x="411480" y="859536"/>
            <a:ext cx="1645920" cy="4572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E8E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30"/>
          <p:cNvSpPr/>
          <p:nvPr/>
        </p:nvSpPr>
        <p:spPr>
          <a:xfrm>
            <a:off x="365760" y="6592824"/>
            <a:ext cx="11430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Fundacion IPPU  x  UTEC  |  2026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30"/>
          <p:cNvSpPr/>
          <p:nvPr/>
        </p:nvSpPr>
        <p:spPr>
          <a:xfrm>
            <a:off x="411480" y="1078992"/>
            <a:ext cx="2157984" cy="2697480"/>
          </a:xfrm>
          <a:prstGeom prst="rect">
            <a:avLst/>
          </a:prstGeom>
          <a:solidFill>
            <a:srgbClr val="6A1B9A">
              <a:alpha val="85882"/>
            </a:srgbClr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30"/>
          <p:cNvSpPr/>
          <p:nvPr/>
        </p:nvSpPr>
        <p:spPr>
          <a:xfrm>
            <a:off x="1133856" y="1188720"/>
            <a:ext cx="713232" cy="713232"/>
          </a:xfrm>
          <a:prstGeom prst="ellipse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30"/>
          <p:cNvSpPr/>
          <p:nvPr/>
        </p:nvSpPr>
        <p:spPr>
          <a:xfrm>
            <a:off x="1133856" y="118872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0"/>
          <p:cNvSpPr/>
          <p:nvPr/>
        </p:nvSpPr>
        <p:spPr>
          <a:xfrm>
            <a:off x="521208" y="201168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Fuentes de datos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30"/>
          <p:cNvSpPr/>
          <p:nvPr/>
        </p:nvSpPr>
        <p:spPr>
          <a:xfrm>
            <a:off x="521208" y="2578608"/>
            <a:ext cx="19385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HCE, evaluaciones IDEA, talleres, notas clinicas, reportes familiares.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0"/>
          <p:cNvSpPr/>
          <p:nvPr/>
        </p:nvSpPr>
        <p:spPr>
          <a:xfrm>
            <a:off x="2734056" y="1078992"/>
            <a:ext cx="2157984" cy="2697480"/>
          </a:xfrm>
          <a:prstGeom prst="rect">
            <a:avLst/>
          </a:prstGeom>
          <a:solidFill>
            <a:srgbClr val="7B1FA2">
              <a:alpha val="85882"/>
            </a:srgbClr>
          </a:solidFill>
          <a:ln cap="flat" cmpd="sng" w="1905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30"/>
          <p:cNvSpPr/>
          <p:nvPr/>
        </p:nvSpPr>
        <p:spPr>
          <a:xfrm>
            <a:off x="3456432" y="1188720"/>
            <a:ext cx="713232" cy="713232"/>
          </a:xfrm>
          <a:prstGeom prst="ellipse">
            <a:avLst/>
          </a:prstGeom>
          <a:solidFill>
            <a:srgbClr val="7B1FA2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30"/>
          <p:cNvSpPr/>
          <p:nvPr/>
        </p:nvSpPr>
        <p:spPr>
          <a:xfrm>
            <a:off x="3456432" y="118872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30"/>
          <p:cNvSpPr/>
          <p:nvPr/>
        </p:nvSpPr>
        <p:spPr>
          <a:xfrm>
            <a:off x="2843784" y="201168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Ingesta &amp; normalizacion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0"/>
          <p:cNvSpPr/>
          <p:nvPr/>
        </p:nvSpPr>
        <p:spPr>
          <a:xfrm>
            <a:off x="2843784" y="2578608"/>
            <a:ext cx="19385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Extraccion HCE, validacion de integridad, anonimizacion de identificadores.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0"/>
          <p:cNvSpPr/>
          <p:nvPr/>
        </p:nvSpPr>
        <p:spPr>
          <a:xfrm>
            <a:off x="5056632" y="1078992"/>
            <a:ext cx="2157984" cy="2697480"/>
          </a:xfrm>
          <a:prstGeom prst="rect">
            <a:avLst/>
          </a:prstGeom>
          <a:solidFill>
            <a:srgbClr val="8E24AA">
              <a:alpha val="85882"/>
            </a:srgbClr>
          </a:solidFill>
          <a:ln cap="flat" cmpd="sng" w="19050">
            <a:solidFill>
              <a:srgbClr val="8E24A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30"/>
          <p:cNvSpPr/>
          <p:nvPr/>
        </p:nvSpPr>
        <p:spPr>
          <a:xfrm>
            <a:off x="5779008" y="1188720"/>
            <a:ext cx="713232" cy="713232"/>
          </a:xfrm>
          <a:prstGeom prst="ellipse">
            <a:avLst/>
          </a:prstGeom>
          <a:solidFill>
            <a:srgbClr val="8E24AA"/>
          </a:solidFill>
          <a:ln cap="flat" cmpd="sng" w="12700">
            <a:solidFill>
              <a:srgbClr val="8E2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0"/>
          <p:cNvSpPr/>
          <p:nvPr/>
        </p:nvSpPr>
        <p:spPr>
          <a:xfrm>
            <a:off x="5779008" y="118872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0"/>
          <p:cNvSpPr/>
          <p:nvPr/>
        </p:nvSpPr>
        <p:spPr>
          <a:xfrm>
            <a:off x="5166360" y="201168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Analisis IA / ML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0"/>
          <p:cNvSpPr/>
          <p:nvPr/>
        </p:nvSpPr>
        <p:spPr>
          <a:xfrm>
            <a:off x="5166360" y="2578608"/>
            <a:ext cx="19385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 (k-means), series temporales (LSTM), modelos de clasificacion conductual.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0"/>
          <p:cNvSpPr/>
          <p:nvPr/>
        </p:nvSpPr>
        <p:spPr>
          <a:xfrm>
            <a:off x="7379208" y="1078992"/>
            <a:ext cx="2157984" cy="2697480"/>
          </a:xfrm>
          <a:prstGeom prst="rect">
            <a:avLst/>
          </a:prstGeom>
          <a:solidFill>
            <a:srgbClr val="9C27B0">
              <a:alpha val="85882"/>
            </a:srgbClr>
          </a:solidFill>
          <a:ln cap="flat" cmpd="sng" w="19050">
            <a:solidFill>
              <a:srgbClr val="9C27B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30"/>
          <p:cNvSpPr/>
          <p:nvPr/>
        </p:nvSpPr>
        <p:spPr>
          <a:xfrm>
            <a:off x="8101584" y="1188720"/>
            <a:ext cx="713232" cy="713232"/>
          </a:xfrm>
          <a:prstGeom prst="ellipse">
            <a:avLst/>
          </a:prstGeom>
          <a:solidFill>
            <a:srgbClr val="9C27B0"/>
          </a:solidFill>
          <a:ln cap="flat" cmpd="sng" w="12700">
            <a:solidFill>
              <a:srgbClr val="9C2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30"/>
          <p:cNvSpPr/>
          <p:nvPr/>
        </p:nvSpPr>
        <p:spPr>
          <a:xfrm>
            <a:off x="8101584" y="118872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30"/>
          <p:cNvSpPr/>
          <p:nvPr/>
        </p:nvSpPr>
        <p:spPr>
          <a:xfrm>
            <a:off x="7488936" y="201168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Visualizacion interactiva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0"/>
          <p:cNvSpPr/>
          <p:nvPr/>
        </p:nvSpPr>
        <p:spPr>
          <a:xfrm>
            <a:off x="7488936" y="2578608"/>
            <a:ext cx="19385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Dashboard: lineas de tiempo, mapas de calor, radar IDEA, progreso por NNA.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30"/>
          <p:cNvSpPr/>
          <p:nvPr/>
        </p:nvSpPr>
        <p:spPr>
          <a:xfrm>
            <a:off x="9701784" y="1078992"/>
            <a:ext cx="2157984" cy="2697480"/>
          </a:xfrm>
          <a:prstGeom prst="rect">
            <a:avLst/>
          </a:prstGeom>
          <a:solidFill>
            <a:srgbClr val="AB47BC">
              <a:alpha val="85882"/>
            </a:srgbClr>
          </a:solidFill>
          <a:ln cap="flat" cmpd="sng" w="19050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30"/>
          <p:cNvSpPr/>
          <p:nvPr/>
        </p:nvSpPr>
        <p:spPr>
          <a:xfrm>
            <a:off x="10424160" y="1188720"/>
            <a:ext cx="713232" cy="713232"/>
          </a:xfrm>
          <a:prstGeom prst="ellipse">
            <a:avLst/>
          </a:prstGeom>
          <a:solidFill>
            <a:srgbClr val="AB47BC"/>
          </a:solidFill>
          <a:ln cap="flat" cmpd="sng" w="12700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30"/>
          <p:cNvSpPr/>
          <p:nvPr/>
        </p:nvSpPr>
        <p:spPr>
          <a:xfrm>
            <a:off x="10424160" y="1188720"/>
            <a:ext cx="713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0"/>
          <p:cNvSpPr/>
          <p:nvPr/>
        </p:nvSpPr>
        <p:spPr>
          <a:xfrm>
            <a:off x="9811512" y="2011680"/>
            <a:ext cx="1938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Informe clinico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30"/>
          <p:cNvSpPr/>
          <p:nvPr/>
        </p:nvSpPr>
        <p:spPr>
          <a:xfrm>
            <a:off x="9811512" y="2578608"/>
            <a:ext cx="19385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Reportes periodicos automaticos para equipo tecnico, direccion e (opcionalmente) familias.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30"/>
          <p:cNvSpPr/>
          <p:nvPr/>
        </p:nvSpPr>
        <p:spPr>
          <a:xfrm>
            <a:off x="411480" y="3950208"/>
            <a:ext cx="2761488" cy="2487168"/>
          </a:xfrm>
          <a:prstGeom prst="rect">
            <a:avLst/>
          </a:prstGeom>
          <a:solidFill>
            <a:srgbClr val="F4F7FB"/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30"/>
          <p:cNvSpPr/>
          <p:nvPr/>
        </p:nvSpPr>
        <p:spPr>
          <a:xfrm>
            <a:off x="411480" y="3950208"/>
            <a:ext cx="2761488" cy="402336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30"/>
          <p:cNvSpPr/>
          <p:nvPr/>
        </p:nvSpPr>
        <p:spPr>
          <a:xfrm>
            <a:off x="521208" y="3986784"/>
            <a:ext cx="2542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Radar IDEA -- Perfil individual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30"/>
          <p:cNvSpPr/>
          <p:nvPr/>
        </p:nvSpPr>
        <p:spPr>
          <a:xfrm>
            <a:off x="612648" y="5148072"/>
            <a:ext cx="201168" cy="502920"/>
          </a:xfrm>
          <a:prstGeom prst="rect">
            <a:avLst/>
          </a:prstGeom>
          <a:solidFill>
            <a:srgbClr val="6A1B9A">
              <a:alpha val="78039"/>
            </a:srgbClr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30"/>
          <p:cNvSpPr/>
          <p:nvPr/>
        </p:nvSpPr>
        <p:spPr>
          <a:xfrm>
            <a:off x="914400" y="4736592"/>
            <a:ext cx="201168" cy="914400"/>
          </a:xfrm>
          <a:prstGeom prst="rect">
            <a:avLst/>
          </a:prstGeom>
          <a:solidFill>
            <a:srgbClr val="6A1B9A">
              <a:alpha val="78039"/>
            </a:srgbClr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30"/>
          <p:cNvSpPr/>
          <p:nvPr/>
        </p:nvSpPr>
        <p:spPr>
          <a:xfrm>
            <a:off x="1216152" y="4937760"/>
            <a:ext cx="201168" cy="713232"/>
          </a:xfrm>
          <a:prstGeom prst="rect">
            <a:avLst/>
          </a:prstGeom>
          <a:solidFill>
            <a:srgbClr val="6A1B9A">
              <a:alpha val="78039"/>
            </a:srgbClr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30"/>
          <p:cNvSpPr/>
          <p:nvPr/>
        </p:nvSpPr>
        <p:spPr>
          <a:xfrm>
            <a:off x="1517904" y="4507992"/>
            <a:ext cx="201168" cy="1143000"/>
          </a:xfrm>
          <a:prstGeom prst="rect">
            <a:avLst/>
          </a:prstGeom>
          <a:solidFill>
            <a:srgbClr val="6A1B9A">
              <a:alpha val="78039"/>
            </a:srgbClr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30"/>
          <p:cNvSpPr/>
          <p:nvPr/>
        </p:nvSpPr>
        <p:spPr>
          <a:xfrm>
            <a:off x="1819656" y="4809744"/>
            <a:ext cx="201168" cy="841248"/>
          </a:xfrm>
          <a:prstGeom prst="rect">
            <a:avLst/>
          </a:prstGeom>
          <a:solidFill>
            <a:srgbClr val="6A1B9A">
              <a:alpha val="78039"/>
            </a:srgbClr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30"/>
          <p:cNvSpPr/>
          <p:nvPr/>
        </p:nvSpPr>
        <p:spPr>
          <a:xfrm>
            <a:off x="521208" y="5742432"/>
            <a:ext cx="25420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Las 12 dimensiones de Riviere como poligono radial. Superpone evaluacion actual vs. anterior.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0"/>
          <p:cNvSpPr/>
          <p:nvPr/>
        </p:nvSpPr>
        <p:spPr>
          <a:xfrm>
            <a:off x="3355848" y="3950208"/>
            <a:ext cx="2761488" cy="2487168"/>
          </a:xfrm>
          <a:prstGeom prst="rect">
            <a:avLst/>
          </a:prstGeom>
          <a:solidFill>
            <a:srgbClr val="F4F7FB"/>
          </a:solidFill>
          <a:ln cap="flat" cmpd="sng" w="1905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30"/>
          <p:cNvSpPr/>
          <p:nvPr/>
        </p:nvSpPr>
        <p:spPr>
          <a:xfrm>
            <a:off x="3355848" y="3950208"/>
            <a:ext cx="2761488" cy="402336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0"/>
          <p:cNvSpPr/>
          <p:nvPr/>
        </p:nvSpPr>
        <p:spPr>
          <a:xfrm>
            <a:off x="3465576" y="3986784"/>
            <a:ext cx="2542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Timeline de objetivos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0"/>
          <p:cNvSpPr/>
          <p:nvPr/>
        </p:nvSpPr>
        <p:spPr>
          <a:xfrm>
            <a:off x="3557016" y="5148072"/>
            <a:ext cx="201168" cy="502920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30"/>
          <p:cNvSpPr/>
          <p:nvPr/>
        </p:nvSpPr>
        <p:spPr>
          <a:xfrm>
            <a:off x="3858768" y="4736592"/>
            <a:ext cx="201168" cy="914400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30"/>
          <p:cNvSpPr/>
          <p:nvPr/>
        </p:nvSpPr>
        <p:spPr>
          <a:xfrm>
            <a:off x="4160520" y="4937760"/>
            <a:ext cx="201168" cy="713232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30"/>
          <p:cNvSpPr/>
          <p:nvPr/>
        </p:nvSpPr>
        <p:spPr>
          <a:xfrm>
            <a:off x="4462272" y="4507992"/>
            <a:ext cx="201168" cy="1143000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30"/>
          <p:cNvSpPr/>
          <p:nvPr/>
        </p:nvSpPr>
        <p:spPr>
          <a:xfrm>
            <a:off x="4764024" y="4809744"/>
            <a:ext cx="201168" cy="841248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30"/>
          <p:cNvSpPr/>
          <p:nvPr/>
        </p:nvSpPr>
        <p:spPr>
          <a:xfrm>
            <a:off x="3465576" y="5742432"/>
            <a:ext cx="25420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Eje temporal de hitos de adquisicion por dominio. Compara velocidades de progreso.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0"/>
          <p:cNvSpPr/>
          <p:nvPr/>
        </p:nvSpPr>
        <p:spPr>
          <a:xfrm>
            <a:off x="6300216" y="3950208"/>
            <a:ext cx="2761488" cy="2487168"/>
          </a:xfrm>
          <a:prstGeom prst="rect">
            <a:avLst/>
          </a:prstGeom>
          <a:solidFill>
            <a:srgbClr val="F4F7FB"/>
          </a:solidFill>
          <a:ln cap="flat" cmpd="sng" w="1905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30"/>
          <p:cNvSpPr/>
          <p:nvPr/>
        </p:nvSpPr>
        <p:spPr>
          <a:xfrm>
            <a:off x="6300216" y="3950208"/>
            <a:ext cx="2761488" cy="402336"/>
          </a:xfrm>
          <a:prstGeom prst="rect">
            <a:avLst/>
          </a:prstGeom>
          <a:solidFill>
            <a:srgbClr val="4A148C"/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30"/>
          <p:cNvSpPr/>
          <p:nvPr/>
        </p:nvSpPr>
        <p:spPr>
          <a:xfrm>
            <a:off x="6409944" y="3986784"/>
            <a:ext cx="2542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Heatmap -- Talleres x Indicadores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0"/>
          <p:cNvSpPr/>
          <p:nvPr/>
        </p:nvSpPr>
        <p:spPr>
          <a:xfrm>
            <a:off x="6501384" y="5148072"/>
            <a:ext cx="201168" cy="502920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0"/>
          <p:cNvSpPr/>
          <p:nvPr/>
        </p:nvSpPr>
        <p:spPr>
          <a:xfrm>
            <a:off x="6803136" y="4736592"/>
            <a:ext cx="201168" cy="914400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30"/>
          <p:cNvSpPr/>
          <p:nvPr/>
        </p:nvSpPr>
        <p:spPr>
          <a:xfrm>
            <a:off x="7104888" y="4937760"/>
            <a:ext cx="201168" cy="713232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30"/>
          <p:cNvSpPr/>
          <p:nvPr/>
        </p:nvSpPr>
        <p:spPr>
          <a:xfrm>
            <a:off x="7406640" y="4507992"/>
            <a:ext cx="201168" cy="1143000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0"/>
          <p:cNvSpPr/>
          <p:nvPr/>
        </p:nvSpPr>
        <p:spPr>
          <a:xfrm>
            <a:off x="7708392" y="4809744"/>
            <a:ext cx="201168" cy="841248"/>
          </a:xfrm>
          <a:prstGeom prst="rect">
            <a:avLst/>
          </a:prstGeom>
          <a:solidFill>
            <a:srgbClr val="4A148C">
              <a:alpha val="78039"/>
            </a:srgbClr>
          </a:solidFill>
          <a:ln cap="flat" cmpd="sng" w="12700">
            <a:solidFill>
              <a:srgbClr val="4A14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30"/>
          <p:cNvSpPr/>
          <p:nvPr/>
        </p:nvSpPr>
        <p:spPr>
          <a:xfrm>
            <a:off x="6409944" y="5742432"/>
            <a:ext cx="25420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Cruza los 18 talleres IPPU con indicadores Likert 1-5. Identifica talleres de mayor eficacia.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0"/>
          <p:cNvSpPr/>
          <p:nvPr/>
        </p:nvSpPr>
        <p:spPr>
          <a:xfrm>
            <a:off x="9244584" y="3950208"/>
            <a:ext cx="2761488" cy="2487168"/>
          </a:xfrm>
          <a:prstGeom prst="rect">
            <a:avLst/>
          </a:prstGeom>
          <a:solidFill>
            <a:srgbClr val="F4F7FB"/>
          </a:solidFill>
          <a:ln cap="flat" cmpd="sng" w="19050">
            <a:solidFill>
              <a:srgbClr val="311B9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30"/>
          <p:cNvSpPr/>
          <p:nvPr/>
        </p:nvSpPr>
        <p:spPr>
          <a:xfrm>
            <a:off x="9244584" y="3950208"/>
            <a:ext cx="2761488" cy="402336"/>
          </a:xfrm>
          <a:prstGeom prst="rect">
            <a:avLst/>
          </a:prstGeom>
          <a:solidFill>
            <a:srgbClr val="311B92"/>
          </a:solidFill>
          <a:ln cap="flat" cmpd="sng" w="12700">
            <a:solidFill>
              <a:srgbClr val="311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30"/>
          <p:cNvSpPr/>
          <p:nvPr/>
        </p:nvSpPr>
        <p:spPr>
          <a:xfrm>
            <a:off x="9354312" y="3986784"/>
            <a:ext cx="2542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de dinamica grupal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0"/>
          <p:cNvSpPr/>
          <p:nvPr/>
        </p:nvSpPr>
        <p:spPr>
          <a:xfrm>
            <a:off x="9445752" y="5148072"/>
            <a:ext cx="201168" cy="502920"/>
          </a:xfrm>
          <a:prstGeom prst="rect">
            <a:avLst/>
          </a:prstGeom>
          <a:solidFill>
            <a:srgbClr val="311B92">
              <a:alpha val="78039"/>
            </a:srgbClr>
          </a:solidFill>
          <a:ln cap="flat" cmpd="sng" w="12700">
            <a:solidFill>
              <a:srgbClr val="311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30"/>
          <p:cNvSpPr/>
          <p:nvPr/>
        </p:nvSpPr>
        <p:spPr>
          <a:xfrm>
            <a:off x="9747504" y="4736592"/>
            <a:ext cx="201168" cy="914400"/>
          </a:xfrm>
          <a:prstGeom prst="rect">
            <a:avLst/>
          </a:prstGeom>
          <a:solidFill>
            <a:srgbClr val="311B92">
              <a:alpha val="78039"/>
            </a:srgbClr>
          </a:solidFill>
          <a:ln cap="flat" cmpd="sng" w="12700">
            <a:solidFill>
              <a:srgbClr val="311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30"/>
          <p:cNvSpPr/>
          <p:nvPr/>
        </p:nvSpPr>
        <p:spPr>
          <a:xfrm>
            <a:off x="10049256" y="4937760"/>
            <a:ext cx="201168" cy="713232"/>
          </a:xfrm>
          <a:prstGeom prst="rect">
            <a:avLst/>
          </a:prstGeom>
          <a:solidFill>
            <a:srgbClr val="311B92">
              <a:alpha val="78039"/>
            </a:srgbClr>
          </a:solidFill>
          <a:ln cap="flat" cmpd="sng" w="12700">
            <a:solidFill>
              <a:srgbClr val="311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30"/>
          <p:cNvSpPr/>
          <p:nvPr/>
        </p:nvSpPr>
        <p:spPr>
          <a:xfrm>
            <a:off x="10351008" y="4507992"/>
            <a:ext cx="201168" cy="1143000"/>
          </a:xfrm>
          <a:prstGeom prst="rect">
            <a:avLst/>
          </a:prstGeom>
          <a:solidFill>
            <a:srgbClr val="311B92">
              <a:alpha val="78039"/>
            </a:srgbClr>
          </a:solidFill>
          <a:ln cap="flat" cmpd="sng" w="12700">
            <a:solidFill>
              <a:srgbClr val="311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30"/>
          <p:cNvSpPr/>
          <p:nvPr/>
        </p:nvSpPr>
        <p:spPr>
          <a:xfrm>
            <a:off x="10652760" y="4809744"/>
            <a:ext cx="201168" cy="841248"/>
          </a:xfrm>
          <a:prstGeom prst="rect">
            <a:avLst/>
          </a:prstGeom>
          <a:solidFill>
            <a:srgbClr val="311B92">
              <a:alpha val="78039"/>
            </a:srgbClr>
          </a:solidFill>
          <a:ln cap="flat" cmpd="sng" w="12700">
            <a:solidFill>
              <a:srgbClr val="311B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30"/>
          <p:cNvSpPr/>
          <p:nvPr/>
        </p:nvSpPr>
        <p:spPr>
          <a:xfrm>
            <a:off x="9354312" y="5742432"/>
            <a:ext cx="25420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56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44563"/>
                </a:solidFill>
                <a:latin typeface="Calibri"/>
                <a:ea typeface="Calibri"/>
                <a:cs typeface="Calibri"/>
                <a:sym typeface="Calibri"/>
              </a:rPr>
              <a:t>Indicadores grupales (cohesion, roles, productividad) basados en escala grupal Plan Anual IPPU.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3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3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31"/>
          <p:cNvSpPr/>
          <p:nvPr/>
        </p:nvSpPr>
        <p:spPr>
          <a:xfrm>
            <a:off x="457200" y="164592"/>
            <a:ext cx="10058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L4  --  REFERENCIAS Y RECURSOS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1"/>
          <p:cNvSpPr/>
          <p:nvPr/>
        </p:nvSpPr>
        <p:spPr>
          <a:xfrm>
            <a:off x="457200" y="676656"/>
            <a:ext cx="10058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Patrones de Visualizacion en Ninos con TEA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1"/>
          <p:cNvSpPr/>
          <p:nvPr/>
        </p:nvSpPr>
        <p:spPr>
          <a:xfrm>
            <a:off x="457200" y="1161288"/>
            <a:ext cx="11247120" cy="36576"/>
          </a:xfrm>
          <a:prstGeom prst="rect">
            <a:avLst/>
          </a:prstGeom>
          <a:solidFill>
            <a:srgbClr val="6A1B9A">
              <a:alpha val="50196"/>
            </a:srgbClr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31"/>
          <p:cNvSpPr/>
          <p:nvPr/>
        </p:nvSpPr>
        <p:spPr>
          <a:xfrm>
            <a:off x="502920" y="1325880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6A1B9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31"/>
          <p:cNvSpPr/>
          <p:nvPr/>
        </p:nvSpPr>
        <p:spPr>
          <a:xfrm>
            <a:off x="502920" y="1325880"/>
            <a:ext cx="64008" cy="13716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31"/>
          <p:cNvSpPr/>
          <p:nvPr/>
        </p:nvSpPr>
        <p:spPr>
          <a:xfrm>
            <a:off x="667512" y="1399032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Washington &amp; Wall -- Data Science &amp; ML for the Neuropsychiatric Phenotype of Autism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1"/>
          <p:cNvSpPr/>
          <p:nvPr/>
        </p:nvSpPr>
        <p:spPr>
          <a:xfrm>
            <a:off x="667512" y="1801368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Annual Review of Biomedical Data Science, 2023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1"/>
          <p:cNvSpPr/>
          <p:nvPr/>
        </p:nvSpPr>
        <p:spPr>
          <a:xfrm>
            <a:off x="667512" y="2084832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pmc.ncbi.nlm.nih.gov/articles/PMC11093217  |  DOI: 10.1146/annurev-biodatasci-020722-125454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1"/>
          <p:cNvSpPr/>
          <p:nvPr/>
        </p:nvSpPr>
        <p:spPr>
          <a:xfrm>
            <a:off x="502920" y="2807208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6A1B9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31"/>
          <p:cNvSpPr/>
          <p:nvPr/>
        </p:nvSpPr>
        <p:spPr>
          <a:xfrm>
            <a:off x="502920" y="2807208"/>
            <a:ext cx="64008" cy="13716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31"/>
          <p:cNvSpPr/>
          <p:nvPr/>
        </p:nvSpPr>
        <p:spPr>
          <a:xfrm>
            <a:off x="667512" y="2880360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AI-Based Approaches for Detecting Autism Traits -- Scoping Review (158 estudios)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1"/>
          <p:cNvSpPr/>
          <p:nvPr/>
        </p:nvSpPr>
        <p:spPr>
          <a:xfrm>
            <a:off x="667512" y="3282696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MDPI Bioengineering, 2025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1"/>
          <p:cNvSpPr/>
          <p:nvPr/>
        </p:nvSpPr>
        <p:spPr>
          <a:xfrm>
            <a:off x="667512" y="3566160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mdpi.com/2306-5354/12/11/1136  |  pmc.ncbi.nlm.nih.gov/articles/PMC12649475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31"/>
          <p:cNvSpPr/>
          <p:nvPr/>
        </p:nvSpPr>
        <p:spPr>
          <a:xfrm>
            <a:off x="502920" y="4288536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6A1B9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31"/>
          <p:cNvSpPr/>
          <p:nvPr/>
        </p:nvSpPr>
        <p:spPr>
          <a:xfrm>
            <a:off x="502920" y="4288536"/>
            <a:ext cx="64008" cy="13716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31"/>
          <p:cNvSpPr/>
          <p:nvPr/>
        </p:nvSpPr>
        <p:spPr>
          <a:xfrm>
            <a:off x="667512" y="436168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Cilia et al. -- Eye-Tracking, Data Visualization &amp; Deep Learning for ASD Screening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1"/>
          <p:cNvSpPr/>
          <p:nvPr/>
        </p:nvSpPr>
        <p:spPr>
          <a:xfrm>
            <a:off x="667512" y="4764024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JMIR Serious Games / PMC, 2021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1"/>
          <p:cNvSpPr/>
          <p:nvPr/>
        </p:nvSpPr>
        <p:spPr>
          <a:xfrm>
            <a:off x="667512" y="5047488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pmc.ncbi.nlm.nih.gov/articles/PMC8722670  |  DOI: 10.2196/27706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1"/>
          <p:cNvSpPr/>
          <p:nvPr/>
        </p:nvSpPr>
        <p:spPr>
          <a:xfrm>
            <a:off x="6492240" y="1325880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6A1B9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1"/>
          <p:cNvSpPr/>
          <p:nvPr/>
        </p:nvSpPr>
        <p:spPr>
          <a:xfrm>
            <a:off x="6492240" y="1325880"/>
            <a:ext cx="64008" cy="13716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31"/>
          <p:cNvSpPr/>
          <p:nvPr/>
        </p:nvSpPr>
        <p:spPr>
          <a:xfrm>
            <a:off x="6656832" y="1399032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AI, IoT &amp; Sensor-Based Technologies in ASD Diagnosis -- Systematic Review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31"/>
          <p:cNvSpPr/>
          <p:nvPr/>
        </p:nvSpPr>
        <p:spPr>
          <a:xfrm>
            <a:off x="6656832" y="1801368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MDPI Algorithms, 2025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1"/>
          <p:cNvSpPr/>
          <p:nvPr/>
        </p:nvSpPr>
        <p:spPr>
          <a:xfrm>
            <a:off x="6656832" y="2084832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mdpi.com/1999-4893/18/1/34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1"/>
          <p:cNvSpPr/>
          <p:nvPr/>
        </p:nvSpPr>
        <p:spPr>
          <a:xfrm>
            <a:off x="6492240" y="2807208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6A1B9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31"/>
          <p:cNvSpPr/>
          <p:nvPr/>
        </p:nvSpPr>
        <p:spPr>
          <a:xfrm>
            <a:off x="6492240" y="2807208"/>
            <a:ext cx="64008" cy="13716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31"/>
          <p:cNvSpPr/>
          <p:nvPr/>
        </p:nvSpPr>
        <p:spPr>
          <a:xfrm>
            <a:off x="6656832" y="2880360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Nuske &amp; Mandell -- Progress Monitoring App: User-Centered Design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31"/>
          <p:cNvSpPr/>
          <p:nvPr/>
        </p:nvSpPr>
        <p:spPr>
          <a:xfrm>
            <a:off x="6656832" y="3282696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PMC, 2022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31"/>
          <p:cNvSpPr/>
          <p:nvPr/>
        </p:nvSpPr>
        <p:spPr>
          <a:xfrm>
            <a:off x="6656832" y="3566160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pmc.ncbi.nlm.nih.gov/articles/PMC9053102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1"/>
          <p:cNvSpPr/>
          <p:nvPr/>
        </p:nvSpPr>
        <p:spPr>
          <a:xfrm>
            <a:off x="6492240" y="4288536"/>
            <a:ext cx="5577840" cy="1371600"/>
          </a:xfrm>
          <a:prstGeom prst="rect">
            <a:avLst/>
          </a:prstGeom>
          <a:solidFill>
            <a:srgbClr val="1B3A5C">
              <a:alpha val="70196"/>
            </a:srgbClr>
          </a:solidFill>
          <a:ln cap="flat" cmpd="sng" w="12700">
            <a:solidFill>
              <a:srgbClr val="6A1B9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31"/>
          <p:cNvSpPr/>
          <p:nvPr/>
        </p:nvSpPr>
        <p:spPr>
          <a:xfrm>
            <a:off x="6492240" y="4288536"/>
            <a:ext cx="64008" cy="137160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31"/>
          <p:cNvSpPr/>
          <p:nvPr/>
        </p:nvSpPr>
        <p:spPr>
          <a:xfrm>
            <a:off x="6656832" y="4361688"/>
            <a:ext cx="53218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MIND: Empowering Mental Health Clinicians with Multimodal Data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1"/>
          <p:cNvSpPr/>
          <p:nvPr/>
        </p:nvSpPr>
        <p:spPr>
          <a:xfrm>
            <a:off x="6656832" y="4764024"/>
            <a:ext cx="5321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Zou, Xu et al. -- ACM CHI 2026, Barcelona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1"/>
          <p:cNvSpPr/>
          <p:nvPr/>
        </p:nvSpPr>
        <p:spPr>
          <a:xfrm>
            <a:off x="6656832" y="5047488"/>
            <a:ext cx="53218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arxiv.org/abs/2601.14641  |  DOI: 10.1145/3772318.3790529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32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0897B"/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3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>
              <a:alpha val="74901"/>
            </a:srgbClr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2"/>
          <p:cNvSpPr/>
          <p:nvPr/>
        </p:nvSpPr>
        <p:spPr>
          <a:xfrm>
            <a:off x="237744" y="0"/>
            <a:ext cx="201168" cy="6858000"/>
          </a:xfrm>
          <a:prstGeom prst="rect">
            <a:avLst/>
          </a:prstGeom>
          <a:solidFill>
            <a:srgbClr val="00897B">
              <a:alpha val="74901"/>
            </a:srgbClr>
          </a:solidFill>
          <a:ln cap="flat" cmpd="sng" w="12700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32"/>
          <p:cNvSpPr/>
          <p:nvPr/>
        </p:nvSpPr>
        <p:spPr>
          <a:xfrm>
            <a:off x="475488" y="0"/>
            <a:ext cx="201168" cy="6858000"/>
          </a:xfrm>
          <a:prstGeom prst="rect">
            <a:avLst/>
          </a:prstGeom>
          <a:solidFill>
            <a:srgbClr val="1565C0">
              <a:alpha val="74901"/>
            </a:srgbClr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32"/>
          <p:cNvSpPr/>
          <p:nvPr/>
        </p:nvSpPr>
        <p:spPr>
          <a:xfrm>
            <a:off x="713232" y="0"/>
            <a:ext cx="201168" cy="6858000"/>
          </a:xfrm>
          <a:prstGeom prst="rect">
            <a:avLst/>
          </a:prstGeom>
          <a:solidFill>
            <a:srgbClr val="6A1B9A">
              <a:alpha val="74901"/>
            </a:srgbClr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32"/>
          <p:cNvSpPr/>
          <p:nvPr/>
        </p:nvSpPr>
        <p:spPr>
          <a:xfrm>
            <a:off x="1280160" y="22860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SINERGIAS E INTEGRACION DE LAS CUATRO LINEAS DE TRABAJO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32"/>
          <p:cNvSpPr/>
          <p:nvPr/>
        </p:nvSpPr>
        <p:spPr>
          <a:xfrm>
            <a:off x="1280160" y="685800"/>
            <a:ext cx="9875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ecosistema tecnologico integrado para IPPU x UTEC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2"/>
          <p:cNvSpPr/>
          <p:nvPr/>
        </p:nvSpPr>
        <p:spPr>
          <a:xfrm>
            <a:off x="1097280" y="1325880"/>
            <a:ext cx="9966960" cy="36576"/>
          </a:xfrm>
          <a:prstGeom prst="rect">
            <a:avLst/>
          </a:prstGeom>
          <a:solidFill>
            <a:srgbClr val="5EEAD4">
              <a:alpha val="50196"/>
            </a:srgbClr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32"/>
          <p:cNvSpPr/>
          <p:nvPr/>
        </p:nvSpPr>
        <p:spPr>
          <a:xfrm>
            <a:off x="1097280" y="1481328"/>
            <a:ext cx="9966960" cy="987552"/>
          </a:xfrm>
          <a:prstGeom prst="rect">
            <a:avLst/>
          </a:prstGeom>
          <a:solidFill>
            <a:srgbClr val="1B3A5C">
              <a:alpha val="65098"/>
            </a:srgbClr>
          </a:solidFill>
          <a:ln cap="flat" cmpd="sng" w="12700">
            <a:solidFill>
              <a:srgbClr val="5EEAD4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32"/>
          <p:cNvSpPr/>
          <p:nvPr/>
        </p:nvSpPr>
        <p:spPr>
          <a:xfrm>
            <a:off x="1298448" y="1572768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L1 -- HCE  -&gt;  L4 -- Visualizacion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32"/>
          <p:cNvSpPr/>
          <p:nvPr/>
        </p:nvSpPr>
        <p:spPr>
          <a:xfrm>
            <a:off x="1298448" y="1984248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Los datos de la Historia Clinica Electronica alimentan los patrones de visualizacion y el dashboard clinico longitudinal.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2"/>
          <p:cNvSpPr/>
          <p:nvPr/>
        </p:nvSpPr>
        <p:spPr>
          <a:xfrm>
            <a:off x="1097280" y="2560320"/>
            <a:ext cx="9966960" cy="987552"/>
          </a:xfrm>
          <a:prstGeom prst="rect">
            <a:avLst/>
          </a:prstGeom>
          <a:solidFill>
            <a:srgbClr val="1B3A5C">
              <a:alpha val="65098"/>
            </a:srgbClr>
          </a:solidFill>
          <a:ln cap="flat" cmpd="sng" w="12700">
            <a:solidFill>
              <a:srgbClr val="5EEAD4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32"/>
          <p:cNvSpPr/>
          <p:nvPr/>
        </p:nvSpPr>
        <p:spPr>
          <a:xfrm>
            <a:off x="1298448" y="265176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L2 -- Pictogramas  -&gt;  L3 -- Asistente Virtual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2"/>
          <p:cNvSpPr/>
          <p:nvPr/>
        </p:nvSpPr>
        <p:spPr>
          <a:xfrm>
            <a:off x="1298448" y="3063240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El asistente recomienda y entrega pictogramas personalizados del NNA directamente durante la conversacion.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32"/>
          <p:cNvSpPr/>
          <p:nvPr/>
        </p:nvSpPr>
        <p:spPr>
          <a:xfrm>
            <a:off x="1097280" y="3639312"/>
            <a:ext cx="9966960" cy="987552"/>
          </a:xfrm>
          <a:prstGeom prst="rect">
            <a:avLst/>
          </a:prstGeom>
          <a:solidFill>
            <a:srgbClr val="1B3A5C">
              <a:alpha val="65098"/>
            </a:srgbClr>
          </a:solidFill>
          <a:ln cap="flat" cmpd="sng" w="12700">
            <a:solidFill>
              <a:srgbClr val="5EEAD4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32"/>
          <p:cNvSpPr/>
          <p:nvPr/>
        </p:nvSpPr>
        <p:spPr>
          <a:xfrm>
            <a:off x="1298448" y="373075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L4 -- Visualizacion  -&gt;  L3 -- Asistente Virtual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32"/>
          <p:cNvSpPr/>
          <p:nvPr/>
        </p:nvSpPr>
        <p:spPr>
          <a:xfrm>
            <a:off x="1298448" y="4142232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Los patrones conductuales detectados enriquecen las respuestas contextualizadas del asistente con informacion actualizada del NNA.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2"/>
          <p:cNvSpPr/>
          <p:nvPr/>
        </p:nvSpPr>
        <p:spPr>
          <a:xfrm>
            <a:off x="1097280" y="4718304"/>
            <a:ext cx="9966960" cy="987552"/>
          </a:xfrm>
          <a:prstGeom prst="rect">
            <a:avLst/>
          </a:prstGeom>
          <a:solidFill>
            <a:srgbClr val="1B3A5C">
              <a:alpha val="65098"/>
            </a:srgbClr>
          </a:solidFill>
          <a:ln cap="flat" cmpd="sng" w="12700">
            <a:solidFill>
              <a:srgbClr val="5EEAD4">
                <a:alpha val="3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32"/>
          <p:cNvSpPr/>
          <p:nvPr/>
        </p:nvSpPr>
        <p:spPr>
          <a:xfrm>
            <a:off x="1298448" y="4809744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L2 -- Pictogramas  &lt;-&gt;  L1 -- HCE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2"/>
          <p:cNvSpPr/>
          <p:nvPr/>
        </p:nvSpPr>
        <p:spPr>
          <a:xfrm>
            <a:off x="1298448" y="5221224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Los pictogramas utilizados por el NNA se registran en la HCE como componente del plan comunicativo, generando trazabilidad.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2"/>
          <p:cNvSpPr/>
          <p:nvPr/>
        </p:nvSpPr>
        <p:spPr>
          <a:xfrm>
            <a:off x="1097280" y="5806440"/>
            <a:ext cx="9966960" cy="1005840"/>
          </a:xfrm>
          <a:prstGeom prst="rect">
            <a:avLst/>
          </a:prstGeom>
          <a:solidFill>
            <a:srgbClr val="1B3A5C">
              <a:alpha val="80000"/>
            </a:srgbClr>
          </a:solidFill>
          <a:ln cap="flat" cmpd="sng" w="12700">
            <a:solidFill>
              <a:srgbClr val="00897B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32"/>
          <p:cNvSpPr/>
          <p:nvPr/>
        </p:nvSpPr>
        <p:spPr>
          <a:xfrm>
            <a:off x="1298448" y="5870448"/>
            <a:ext cx="960120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2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E8EDF2"/>
                </a:solidFill>
                <a:latin typeface="Calibri"/>
                <a:ea typeface="Calibri"/>
                <a:cs typeface="Calibri"/>
                <a:sym typeface="Calibri"/>
              </a:rPr>
              <a:t>Cada linea de trabajo potencia a las demas -- Los datos de la HCE nutren las visualizaciones, los pictogramas enriquecen al asistente, y los patrones detectados mejoran las intervenciones. Un sistema integrado construido colectivamente con UTEC e IPPU.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2026-05-13T00:07:20Z</dcterms:created>
  <dc:creator>PptxGenJS</dc:creator>
</cp:coreProperties>
</file>